
<file path=[Content_Types].xml><?xml version="1.0" encoding="utf-8"?>
<Types xmlns="http://schemas.openxmlformats.org/package/2006/content-types">
  <Override PartName="/customXml/itemProps2.xml" ContentType="application/vnd.openxmlformats-officedocument.customXmlProperties+xml"/>
  <Override PartName="/customXml/itemProps3.xml" ContentType="application/vnd.openxmlformats-officedocument.customXmlProperties+xml"/>
  <Override PartName="/ppt/slides/slide5.xml" ContentType="application/vnd.openxmlformats-officedocument.presentationml.slide+xml"/>
  <Override PartName="/ppt/slides/slide6.xml" ContentType="application/vnd.openxmlformats-officedocument.presentationml.slide+xml"/>
  <Default Extension="png" ContentType="image/pn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metadata" ContentType="application/binary"/>
  <Override PartName="/customXml/itemProps1.xml" ContentType="application/vnd.openxmlformats-officedocument.customXmlProperties+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tableStyles.xml" ContentType="application/vnd.openxmlformats-officedocument.presentationml.tableStyles+xml"/>
  <Override PartName="/docProps/custom.xml" ContentType="application/vnd.openxmlformats-officedocument.custom-propertie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5" r:id="rId4"/>
  </p:sldMasterIdLst>
  <p:notesMasterIdLst>
    <p:notesMasterId r:id="rId16"/>
  </p:notesMasterIdLst>
  <p:sldIdLst>
    <p:sldId id="1303" r:id="rId5"/>
    <p:sldId id="1291" r:id="rId6"/>
    <p:sldId id="1301" r:id="rId7"/>
    <p:sldId id="1302" r:id="rId8"/>
    <p:sldId id="1304" r:id="rId9"/>
    <p:sldId id="1305" r:id="rId10"/>
    <p:sldId id="1306" r:id="rId11"/>
    <p:sldId id="1295" r:id="rId12"/>
    <p:sldId id="1307" r:id="rId13"/>
    <p:sldId id="1296" r:id="rId14"/>
    <p:sldId id="1250"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792" userDrawn="1">
          <p15:clr>
            <a:srgbClr val="A4A3A4"/>
          </p15:clr>
        </p15:guide>
        <p15:guide id="2" pos="192" userDrawn="1">
          <p15:clr>
            <a:srgbClr val="A4A3A4"/>
          </p15:clr>
        </p15:guide>
        <p15:guide id="3" orient="horz" pos="1080" userDrawn="1">
          <p15:clr>
            <a:srgbClr val="A4A3A4"/>
          </p15:clr>
        </p15:guide>
      </p15:sldGuideLst>
    </p:ext>
    <p:ext uri="http://customooxmlschemas.google.com/">
      <go:slidesCustomData xmlns="" xmlns:go="http://customooxmlschemas.google.com/"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220" roundtripDataSignature="AMtx7miWNY2LB4ETJwrL8F0N+EK9hEhq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EDEEFF"/>
    <a:srgbClr val="F9FFEB"/>
    <a:srgbClr val="EDFFC5"/>
    <a:srgbClr val="7FBA00"/>
    <a:srgbClr val="EBEEF9"/>
    <a:srgbClr val="213164"/>
    <a:srgbClr val="FED500"/>
    <a:srgbClr val="484F9E"/>
    <a:srgbClr val="F6AB1B"/>
    <a:srgbClr val="F7BA16"/>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5882" autoAdjust="0"/>
  </p:normalViewPr>
  <p:slideViewPr>
    <p:cSldViewPr snapToGrid="0">
      <p:cViewPr varScale="1">
        <p:scale>
          <a:sx n="62" d="100"/>
          <a:sy n="62" d="100"/>
        </p:scale>
        <p:origin x="-996" y="-84"/>
      </p:cViewPr>
      <p:guideLst>
        <p:guide orient="horz" pos="792"/>
        <p:guide orient="horz" pos="1080"/>
        <p:guide pos="192"/>
      </p:guideLst>
    </p:cSldViewPr>
  </p:slideViewPr>
  <p:notesTextViewPr>
    <p:cViewPr>
      <p:scale>
        <a:sx n="1" d="1"/>
        <a:sy n="1" d="1"/>
      </p:scale>
      <p:origin x="0" y="0"/>
    </p:cViewPr>
  </p:notesTextViewPr>
  <p:sorterViewPr>
    <p:cViewPr>
      <p:scale>
        <a:sx n="100" d="100"/>
        <a:sy n="100"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3" Type="http://schemas.openxmlformats.org/officeDocument/2006/relationships/customXml" Target="../customXml/item3.xml"/><Relationship Id="rId222"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2" Type="http://schemas.openxmlformats.org/officeDocument/2006/relationships/customXml" Target="../customXml/item2.xml"/><Relationship Id="rId16" Type="http://schemas.openxmlformats.org/officeDocument/2006/relationships/notesMaster" Target="notesMasters/notesMaster1.xml"/><Relationship Id="rId22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20" Type="http://customschemas.google.com/relationships/presentationmetadata" Target="metadata"/><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22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xmlns="" val="29308025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6866F48-9D21-782B-817D-628E00E790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B3EA01B1-8FFD-B3B2-8C58-D03C141EAAFE}"/>
              </a:ext>
            </a:extLst>
          </p:cNvPr>
          <p:cNvSpPr>
            <a:spLocks noGrp="1" noRot="1" noChangeAspect="1"/>
          </p:cNvSpPr>
          <p:nvPr>
            <p:ph type="sldImg"/>
          </p:nvPr>
        </p:nvSpPr>
        <p:spPr>
          <a:xfrm>
            <a:off x="533400" y="763588"/>
            <a:ext cx="6704013" cy="3771900"/>
          </a:xfrm>
        </p:spPr>
      </p:sp>
      <p:sp>
        <p:nvSpPr>
          <p:cNvPr id="3" name="Notes Placeholder 2">
            <a:extLst>
              <a:ext uri="{FF2B5EF4-FFF2-40B4-BE49-F238E27FC236}">
                <a16:creationId xmlns:a16="http://schemas.microsoft.com/office/drawing/2014/main" xmlns="" id="{24391DBC-FC69-5469-D390-5D98A124241B}"/>
              </a:ext>
            </a:extLst>
          </p:cNvPr>
          <p:cNvSpPr>
            <a:spLocks noGrp="1"/>
          </p:cNvSpPr>
          <p:nvPr>
            <p:ph type="body" idx="1"/>
          </p:nvPr>
        </p:nvSpPr>
        <p:spPr/>
        <p:txBody>
          <a:bodyPr/>
          <a:lstStyle/>
          <a:p>
            <a:pPr marL="158750" indent="0">
              <a:buNone/>
            </a:pPr>
            <a:endParaRPr lang="en-US" b="1" dirty="0" smtClean="0"/>
          </a:p>
          <a:p>
            <a:pPr marL="158750" indent="0">
              <a:buNone/>
            </a:pPr>
            <a:endParaRPr lang="en-US" b="1" dirty="0"/>
          </a:p>
        </p:txBody>
      </p:sp>
      <p:sp>
        <p:nvSpPr>
          <p:cNvPr id="4" name="Slide Number Placeholder 3">
            <a:extLst>
              <a:ext uri="{FF2B5EF4-FFF2-40B4-BE49-F238E27FC236}">
                <a16:creationId xmlns:a16="http://schemas.microsoft.com/office/drawing/2014/main" xmlns="" id="{70FE33EE-4789-F264-0283-0D77B6B7A50C}"/>
              </a:ext>
            </a:extLst>
          </p:cNvPr>
          <p:cNvSpPr>
            <a:spLocks noGrp="1"/>
          </p:cNvSpPr>
          <p:nvPr>
            <p:ph type="sldNum"/>
          </p:nvPr>
        </p:nvSpPr>
        <p:spPr>
          <a:xfrm>
            <a:off x="3884613" y="8685213"/>
            <a:ext cx="2971800" cy="457200"/>
          </a:xfrm>
          <a:prstGeom prst="rect">
            <a:avLst/>
          </a:prstGeom>
        </p:spPr>
        <p:txBody>
          <a:bodyPr/>
          <a:lstStyle/>
          <a:p>
            <a:pPr algn="r"/>
            <a:fld id="{023E65BA-FB28-47C4-A217-44F00343302E}" type="slidenum">
              <a:rPr lang="en-US" sz="1400" b="0" strike="noStrike" spc="-1">
                <a:latin typeface="Times New Roman"/>
              </a:rPr>
              <a:pPr algn="r"/>
              <a:t>1</a:t>
            </a:fld>
            <a:endParaRPr lang="en-US" sz="1400" b="0" strike="noStrike" spc="-1">
              <a:latin typeface="Times New Roman"/>
            </a:endParaRPr>
          </a:p>
        </p:txBody>
      </p:sp>
    </p:spTree>
    <p:extLst>
      <p:ext uri="{BB962C8B-B14F-4D97-AF65-F5344CB8AC3E}">
        <p14:creationId xmlns:p14="http://schemas.microsoft.com/office/powerpoint/2010/main" xmlns="" val="35254819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xmlns="" val="12110891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xmlns="" val="20016580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xmlns="" val="1321134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xmlns="" val="24038455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xmlns="" id="{2D6D3F29-8BDE-7163-D2D5-EE57DFC9C904}"/>
            </a:ext>
          </a:extLst>
        </p:cNvPr>
        <p:cNvGrpSpPr/>
        <p:nvPr/>
      </p:nvGrpSpPr>
      <p:grpSpPr>
        <a:xfrm>
          <a:off x="0" y="0"/>
          <a:ext cx="0" cy="0"/>
          <a:chOff x="0" y="0"/>
          <a:chExt cx="0" cy="0"/>
        </a:xfrm>
      </p:grpSpPr>
      <p:sp>
        <p:nvSpPr>
          <p:cNvPr id="58" name="Google Shape;58;g5fab984687_2_0:notes">
            <a:extLst>
              <a:ext uri="{FF2B5EF4-FFF2-40B4-BE49-F238E27FC236}">
                <a16:creationId xmlns:a16="http://schemas.microsoft.com/office/drawing/2014/main" xmlns="" id="{A41EE912-6552-9CC6-CD6B-6B980308918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a:extLst>
              <a:ext uri="{FF2B5EF4-FFF2-40B4-BE49-F238E27FC236}">
                <a16:creationId xmlns:a16="http://schemas.microsoft.com/office/drawing/2014/main" xmlns="" id="{6F97443E-66AE-5448-3379-C79C608008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xmlns="" val="18829099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xmlns="" val="24038455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xmlns="" val="1748123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xmlns="" id="{31DF3603-B90C-E85A-3BA4-021FBC104BA6}"/>
            </a:ext>
          </a:extLst>
        </p:cNvPr>
        <p:cNvGrpSpPr/>
        <p:nvPr/>
      </p:nvGrpSpPr>
      <p:grpSpPr>
        <a:xfrm>
          <a:off x="0" y="0"/>
          <a:ext cx="0" cy="0"/>
          <a:chOff x="0" y="0"/>
          <a:chExt cx="0" cy="0"/>
        </a:xfrm>
      </p:grpSpPr>
      <p:sp>
        <p:nvSpPr>
          <p:cNvPr id="58" name="Google Shape;58;g5fab984687_2_0:notes">
            <a:extLst>
              <a:ext uri="{FF2B5EF4-FFF2-40B4-BE49-F238E27FC236}">
                <a16:creationId xmlns:a16="http://schemas.microsoft.com/office/drawing/2014/main" xmlns="" id="{7E4F9E3F-281C-99B0-C36B-EBAA663D8C5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a:extLst>
              <a:ext uri="{FF2B5EF4-FFF2-40B4-BE49-F238E27FC236}">
                <a16:creationId xmlns:a16="http://schemas.microsoft.com/office/drawing/2014/main" xmlns="" id="{19D15949-A0F5-E877-78C7-0F3F8BE63E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xmlns="" val="34690551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xmlns="" val="24038455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None/>
            </a:pPr>
            <a:r>
              <a:rPr lang="en-US" b="1" spc="-5">
                <a:solidFill>
                  <a:srgbClr val="223366"/>
                </a:solidFill>
              </a:rPr>
              <a:t>Thank You !!</a:t>
            </a:r>
            <a:endParaRPr lang="en-US" sz="1100" b="1" spc="-5">
              <a:solidFill>
                <a:srgbClr val="223366"/>
              </a:solidFill>
            </a:endParaRPr>
          </a:p>
        </p:txBody>
      </p:sp>
    </p:spTree>
    <p:extLst>
      <p:ext uri="{BB962C8B-B14F-4D97-AF65-F5344CB8AC3E}">
        <p14:creationId xmlns:p14="http://schemas.microsoft.com/office/powerpoint/2010/main" xmlns="" val="2544203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28378783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xmlns="" val="27718775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242826647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eg"/><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pic>
        <p:nvPicPr>
          <p:cNvPr id="13" name="Google Shape;110;p4" descr="A close up of a sign&#10;&#10;Description automatically generated">
            <a:extLst>
              <a:ext uri="{FF2B5EF4-FFF2-40B4-BE49-F238E27FC236}">
                <a16:creationId xmlns:a16="http://schemas.microsoft.com/office/drawing/2014/main" xmlns="" id="{CE849A3B-BCF0-B774-F89E-81965C71F93E}"/>
              </a:ext>
            </a:extLst>
          </p:cNvPr>
          <p:cNvPicPr preferRelativeResize="0"/>
          <p:nvPr userDrawn="1"/>
        </p:nvPicPr>
        <p:blipFill rotWithShape="1">
          <a:blip r:embed="rId5">
            <a:alphaModFix/>
          </a:blip>
          <a:srcRect/>
          <a:stretch/>
        </p:blipFill>
        <p:spPr>
          <a:xfrm>
            <a:off x="10072688" y="78002"/>
            <a:ext cx="1800225" cy="575514"/>
          </a:xfrm>
          <a:prstGeom prst="rect">
            <a:avLst/>
          </a:prstGeom>
          <a:noFill/>
          <a:ln>
            <a:noFill/>
          </a:ln>
        </p:spPr>
      </p:pic>
      <p:sp>
        <p:nvSpPr>
          <p:cNvPr id="15" name="Rectangle 14">
            <a:extLst>
              <a:ext uri="{FF2B5EF4-FFF2-40B4-BE49-F238E27FC236}">
                <a16:creationId xmlns:a16="http://schemas.microsoft.com/office/drawing/2014/main" xmlns="" id="{E153E6A6-60E4-FE14-1CBC-8CC211274D1C}"/>
              </a:ext>
            </a:extLst>
          </p:cNvPr>
          <p:cNvSpPr/>
          <p:nvPr userDrawn="1"/>
        </p:nvSpPr>
        <p:spPr>
          <a:xfrm>
            <a:off x="1" y="0"/>
            <a:ext cx="9829800" cy="717630"/>
          </a:xfrm>
          <a:prstGeom prst="rect">
            <a:avLst/>
          </a:prstGeom>
          <a:solidFill>
            <a:srgbClr val="213264"/>
          </a:solidFill>
          <a:ln>
            <a:solidFill>
              <a:srgbClr val="2132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xmlns="" id="{2C7CE881-772B-9023-3054-4B219B75D755}"/>
              </a:ext>
            </a:extLst>
          </p:cNvPr>
          <p:cNvSpPr/>
          <p:nvPr userDrawn="1"/>
        </p:nvSpPr>
        <p:spPr>
          <a:xfrm>
            <a:off x="9888967" y="-419"/>
            <a:ext cx="112283" cy="732357"/>
          </a:xfrm>
          <a:prstGeom prst="rect">
            <a:avLst/>
          </a:prstGeom>
          <a:solidFill>
            <a:srgbClr val="7FB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1" name="Picture 30" descr="A blue and white background&#10;&#10;Description automatically generated with medium confidence">
            <a:extLst>
              <a:ext uri="{FF2B5EF4-FFF2-40B4-BE49-F238E27FC236}">
                <a16:creationId xmlns:a16="http://schemas.microsoft.com/office/drawing/2014/main" xmlns="" id="{16A7B69A-9B14-87FE-841D-37F0A91D141D}"/>
              </a:ext>
            </a:extLst>
          </p:cNvPr>
          <p:cNvPicPr>
            <a:picLocks noChangeAspect="1"/>
          </p:cNvPicPr>
          <p:nvPr userDrawn="1"/>
        </p:nvPicPr>
        <p:blipFill rotWithShape="1">
          <a:blip r:embed="rId6">
            <a:alphaModFix amt="16000"/>
          </a:blip>
          <a:srcRect t="24724" r="1619" b="63695"/>
          <a:stretch/>
        </p:blipFill>
        <p:spPr>
          <a:xfrm>
            <a:off x="0" y="-1"/>
            <a:ext cx="9839325" cy="723901"/>
          </a:xfrm>
          <a:prstGeom prst="rect">
            <a:avLst/>
          </a:prstGeom>
        </p:spPr>
      </p:pic>
      <p:sp>
        <p:nvSpPr>
          <p:cNvPr id="2" name="Rectangle 1">
            <a:extLst>
              <a:ext uri="{FF2B5EF4-FFF2-40B4-BE49-F238E27FC236}">
                <a16:creationId xmlns:a16="http://schemas.microsoft.com/office/drawing/2014/main" xmlns="" id="{37B91A16-5D54-2FC0-B0FD-A78085FC1313}"/>
              </a:ext>
            </a:extLst>
          </p:cNvPr>
          <p:cNvSpPr/>
          <p:nvPr userDrawn="1"/>
        </p:nvSpPr>
        <p:spPr>
          <a:xfrm>
            <a:off x="11925300" y="-419"/>
            <a:ext cx="266700" cy="732357"/>
          </a:xfrm>
          <a:prstGeom prst="rect">
            <a:avLst/>
          </a:prstGeom>
          <a:solidFill>
            <a:srgbClr val="FED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 bg1="lt1" tx1="dk1" bg2="dk2" tx2="lt2" accent1="accent1" accent2="accent2" accent3="accent3" accent4="accent4" accent5="accent5" accent6="accent6" hlink="hlink" folHlink="folHlink"/>
  <p:sldLayoutIdLst>
    <p:sldLayoutId id="2147483701" r:id="rId1"/>
    <p:sldLayoutId id="2147483714" r:id="rId2"/>
    <p:sldLayoutId id="2147483727"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xmlns="">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hyperlink" Target="https://www.freepik.com/"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freepik.com/"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freepik.com/"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freepik.com/"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freepik.com/"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kaggle.com/" TargetMode="External"/><Relationship Id="rId7" Type="http://schemas.openxmlformats.org/officeDocument/2006/relationships/hyperlink" Target="https://www.mdpi.com/1996-1073/13/7/1555"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hyperlink" Target="https://data.mendeley.com/" TargetMode="External"/><Relationship Id="rId5" Type="http://schemas.openxmlformats.org/officeDocument/2006/relationships/hyperlink" Target="https://zenodo.org/" TargetMode="External"/><Relationship Id="rId4" Type="http://schemas.openxmlformats.org/officeDocument/2006/relationships/hyperlink" Target="https://www.nature.com/articles/s41597-020-00582-3"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36107AE-7741-CFD9-BE8D-2CAE1C48C6B7}"/>
            </a:ext>
          </a:extLst>
        </p:cNvPr>
        <p:cNvGrpSpPr/>
        <p:nvPr/>
      </p:nvGrpSpPr>
      <p:grpSpPr>
        <a:xfrm>
          <a:off x="0" y="0"/>
          <a:ext cx="0" cy="0"/>
          <a:chOff x="0" y="0"/>
          <a:chExt cx="0" cy="0"/>
        </a:xfrm>
      </p:grpSpPr>
      <p:pic>
        <p:nvPicPr>
          <p:cNvPr id="6" name="Picture 5" descr="A person sitting at a desk with a computer&#10;&#10;Description automatically generated">
            <a:extLst>
              <a:ext uri="{FF2B5EF4-FFF2-40B4-BE49-F238E27FC236}">
                <a16:creationId xmlns:a16="http://schemas.microsoft.com/office/drawing/2014/main" xmlns="" id="{2F44FAA3-CD3A-C2DE-34BE-DD7BBE78D64E}"/>
              </a:ext>
            </a:extLst>
          </p:cNvPr>
          <p:cNvPicPr>
            <a:picLocks noChangeAspect="1"/>
          </p:cNvPicPr>
          <p:nvPr/>
        </p:nvPicPr>
        <p:blipFill>
          <a:blip r:embed="rId3"/>
          <a:stretch>
            <a:fillRect/>
          </a:stretch>
        </p:blipFill>
        <p:spPr>
          <a:xfrm>
            <a:off x="0" y="0"/>
            <a:ext cx="12192000" cy="6858000"/>
          </a:xfrm>
          <a:prstGeom prst="rect">
            <a:avLst/>
          </a:prstGeom>
        </p:spPr>
      </p:pic>
      <p:sp>
        <p:nvSpPr>
          <p:cNvPr id="5" name="Rectangle: Rounded Corners 4">
            <a:extLst>
              <a:ext uri="{FF2B5EF4-FFF2-40B4-BE49-F238E27FC236}">
                <a16:creationId xmlns:a16="http://schemas.microsoft.com/office/drawing/2014/main" xmlns="" id="{DF167754-280A-4FED-560B-C3D6EB2185DE}"/>
              </a:ext>
            </a:extLst>
          </p:cNvPr>
          <p:cNvSpPr/>
          <p:nvPr/>
        </p:nvSpPr>
        <p:spPr>
          <a:xfrm>
            <a:off x="5873750" y="584200"/>
            <a:ext cx="4673600" cy="977900"/>
          </a:xfrm>
          <a:prstGeom prst="roundRect">
            <a:avLst/>
          </a:prstGeom>
          <a:solidFill>
            <a:srgbClr val="EBEEF9"/>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xmlns="" id="{CA298952-1BDB-C0AE-516A-649A0AADEA76}"/>
              </a:ext>
            </a:extLst>
          </p:cNvPr>
          <p:cNvSpPr txBox="1"/>
          <p:nvPr/>
        </p:nvSpPr>
        <p:spPr>
          <a:xfrm>
            <a:off x="4880728" y="1905000"/>
            <a:ext cx="6716912" cy="1815882"/>
          </a:xfrm>
          <a:prstGeom prst="rect">
            <a:avLst/>
          </a:prstGeom>
          <a:noFill/>
        </p:spPr>
        <p:txBody>
          <a:bodyPr wrap="square" rtlCol="0">
            <a:spAutoFit/>
          </a:bodyPr>
          <a:lstStyle/>
          <a:p>
            <a:r>
              <a:rPr lang="en-US" sz="4000" b="1" dirty="0" err="1" smtClean="0">
                <a:solidFill>
                  <a:schemeClr val="bg1">
                    <a:lumMod val="95000"/>
                  </a:schemeClr>
                </a:solidFill>
                <a:latin typeface="Arial Black" pitchFamily="34" charset="0"/>
              </a:rPr>
              <a:t>EcoGuard</a:t>
            </a:r>
            <a:r>
              <a:rPr lang="en-US" sz="4000" b="1" dirty="0" smtClean="0">
                <a:solidFill>
                  <a:schemeClr val="bg1">
                    <a:lumMod val="95000"/>
                  </a:schemeClr>
                </a:solidFill>
                <a:latin typeface="Arial Black" pitchFamily="34" charset="0"/>
              </a:rPr>
              <a:t> AI</a:t>
            </a:r>
          </a:p>
          <a:p>
            <a:r>
              <a:rPr lang="en-US" sz="1600" dirty="0" smtClean="0">
                <a:solidFill>
                  <a:schemeClr val="bg1">
                    <a:lumMod val="95000"/>
                  </a:schemeClr>
                </a:solidFill>
              </a:rPr>
              <a:t> AI-Powered </a:t>
            </a:r>
            <a:r>
              <a:rPr lang="en-US" sz="1600" dirty="0" smtClean="0">
                <a:solidFill>
                  <a:schemeClr val="bg1">
                    <a:lumMod val="95000"/>
                  </a:schemeClr>
                </a:solidFill>
              </a:rPr>
              <a:t>Solution for LPG Safety Monitoring and Workforce </a:t>
            </a:r>
            <a:r>
              <a:rPr lang="en-US" sz="1600" dirty="0" smtClean="0">
                <a:solidFill>
                  <a:schemeClr val="bg1">
                    <a:lumMod val="95000"/>
                  </a:schemeClr>
                </a:solidFill>
              </a:rPr>
              <a:t>         </a:t>
            </a:r>
            <a:r>
              <a:rPr lang="en-US" sz="1600" dirty="0" smtClean="0">
                <a:solidFill>
                  <a:schemeClr val="bg1">
                    <a:lumMod val="95000"/>
                  </a:schemeClr>
                </a:solidFill>
              </a:rPr>
              <a:t> </a:t>
            </a:r>
            <a:r>
              <a:rPr lang="en-US" sz="1600" dirty="0" smtClean="0">
                <a:solidFill>
                  <a:schemeClr val="bg1">
                    <a:lumMod val="95000"/>
                  </a:schemeClr>
                </a:solidFill>
              </a:rPr>
              <a:t>           Development</a:t>
            </a:r>
            <a:endParaRPr lang="en-US" sz="1600" dirty="0" smtClean="0">
              <a:solidFill>
                <a:schemeClr val="bg1">
                  <a:lumMod val="95000"/>
                </a:schemeClr>
              </a:solidFill>
            </a:endParaRPr>
          </a:p>
          <a:p>
            <a:endParaRPr lang="en-US" sz="4000" dirty="0">
              <a:solidFill>
                <a:schemeClr val="bg1">
                  <a:lumMod val="95000"/>
                </a:schemeClr>
              </a:solidFill>
              <a:latin typeface="Arial Black" pitchFamily="34" charset="0"/>
            </a:endParaRPr>
          </a:p>
        </p:txBody>
      </p:sp>
      <p:grpSp>
        <p:nvGrpSpPr>
          <p:cNvPr id="3" name="Group 3">
            <a:extLst>
              <a:ext uri="{FF2B5EF4-FFF2-40B4-BE49-F238E27FC236}">
                <a16:creationId xmlns:a16="http://schemas.microsoft.com/office/drawing/2014/main" xmlns="" id="{B14EC782-EC27-B496-4307-079310BF069F}"/>
              </a:ext>
            </a:extLst>
          </p:cNvPr>
          <p:cNvGrpSpPr/>
          <p:nvPr/>
        </p:nvGrpSpPr>
        <p:grpSpPr>
          <a:xfrm>
            <a:off x="6096000" y="707886"/>
            <a:ext cx="4218482" cy="664378"/>
            <a:chOff x="2375536" y="1112060"/>
            <a:chExt cx="5261230" cy="828603"/>
          </a:xfrm>
        </p:grpSpPr>
        <p:pic>
          <p:nvPicPr>
            <p:cNvPr id="19" name="Picture 18" descr="A close up of a logo&#10;&#10;Description automatically generated">
              <a:extLst>
                <a:ext uri="{FF2B5EF4-FFF2-40B4-BE49-F238E27FC236}">
                  <a16:creationId xmlns:a16="http://schemas.microsoft.com/office/drawing/2014/main" xmlns="" id="{6BB3DC08-2A20-1075-63BC-E8C04F7BBCB8}"/>
                </a:ext>
              </a:extLst>
            </p:cNvPr>
            <p:cNvPicPr>
              <a:picLocks noChangeAspect="1"/>
            </p:cNvPicPr>
            <p:nvPr/>
          </p:nvPicPr>
          <p:blipFill>
            <a:blip r:embed="rId4" cstate="print">
              <a:extLst>
                <a:ext uri="{28A0092B-C50C-407E-A947-70E740481C1C}">
                  <a14:useLocalDpi xmlns:a14="http://schemas.microsoft.com/office/drawing/2010/main" xmlns="" val="0"/>
                </a:ext>
              </a:extLst>
            </a:blip>
            <a:stretch>
              <a:fillRect/>
            </a:stretch>
          </p:blipFill>
          <p:spPr>
            <a:xfrm>
              <a:off x="6061375" y="1270168"/>
              <a:ext cx="1575391" cy="512386"/>
            </a:xfrm>
            <a:prstGeom prst="rect">
              <a:avLst/>
            </a:prstGeom>
          </p:spPr>
        </p:pic>
        <p:pic>
          <p:nvPicPr>
            <p:cNvPr id="21" name="Picture 20" descr="A yellow and red shell logo&#10;&#10;Description automatically generated">
              <a:extLst>
                <a:ext uri="{FF2B5EF4-FFF2-40B4-BE49-F238E27FC236}">
                  <a16:creationId xmlns:a16="http://schemas.microsoft.com/office/drawing/2014/main" xmlns="" id="{B15A103C-65F3-1F0A-3229-6389A232569A}"/>
                </a:ext>
              </a:extLst>
            </p:cNvPr>
            <p:cNvPicPr>
              <a:picLocks noChangeAspect="1"/>
            </p:cNvPicPr>
            <p:nvPr/>
          </p:nvPicPr>
          <p:blipFill>
            <a:blip r:embed="rId5"/>
            <a:stretch>
              <a:fillRect/>
            </a:stretch>
          </p:blipFill>
          <p:spPr>
            <a:xfrm>
              <a:off x="2375536" y="1112060"/>
              <a:ext cx="985475" cy="828603"/>
            </a:xfrm>
            <a:prstGeom prst="rect">
              <a:avLst/>
            </a:prstGeom>
          </p:spPr>
        </p:pic>
      </p:grpSp>
      <p:sp>
        <p:nvSpPr>
          <p:cNvPr id="2" name="TextBox 1">
            <a:extLst>
              <a:ext uri="{FF2B5EF4-FFF2-40B4-BE49-F238E27FC236}">
                <a16:creationId xmlns:a16="http://schemas.microsoft.com/office/drawing/2014/main" xmlns="" id="{F6F19223-1516-B9D6-0D92-8A75320E6DC6}"/>
              </a:ext>
            </a:extLst>
          </p:cNvPr>
          <p:cNvSpPr txBox="1"/>
          <p:nvPr/>
        </p:nvSpPr>
        <p:spPr>
          <a:xfrm>
            <a:off x="5313289" y="3209811"/>
            <a:ext cx="5152373" cy="2103589"/>
          </a:xfrm>
          <a:prstGeom prst="rect">
            <a:avLst/>
          </a:prstGeom>
          <a:noFill/>
        </p:spPr>
        <p:txBody>
          <a:bodyPr wrap="none" rtlCol="0">
            <a:spAutoFit/>
          </a:bodyPr>
          <a:lstStyle/>
          <a:p>
            <a:r>
              <a:rPr lang="en-US" b="1" dirty="0">
                <a:solidFill>
                  <a:schemeClr val="bg1"/>
                </a:solidFill>
              </a:rPr>
              <a:t>College </a:t>
            </a:r>
            <a:r>
              <a:rPr lang="en-US" b="1" dirty="0" smtClean="0">
                <a:solidFill>
                  <a:schemeClr val="bg1"/>
                </a:solidFill>
              </a:rPr>
              <a:t>Name:  </a:t>
            </a:r>
            <a:r>
              <a:rPr lang="en-US" b="1" dirty="0" err="1" smtClean="0">
                <a:solidFill>
                  <a:schemeClr val="bg1"/>
                </a:solidFill>
              </a:rPr>
              <a:t>Parul</a:t>
            </a:r>
            <a:r>
              <a:rPr lang="en-US" b="1" dirty="0" smtClean="0">
                <a:solidFill>
                  <a:schemeClr val="bg1"/>
                </a:solidFill>
              </a:rPr>
              <a:t> University</a:t>
            </a:r>
            <a:endParaRPr lang="en-US" b="1" dirty="0">
              <a:solidFill>
                <a:schemeClr val="bg1"/>
              </a:solidFill>
            </a:endParaRPr>
          </a:p>
          <a:p>
            <a:r>
              <a:rPr lang="en-US" b="1" dirty="0">
                <a:solidFill>
                  <a:schemeClr val="bg1"/>
                </a:solidFill>
              </a:rPr>
              <a:t>Student </a:t>
            </a:r>
            <a:r>
              <a:rPr lang="en-US" b="1" dirty="0" smtClean="0">
                <a:solidFill>
                  <a:schemeClr val="bg1"/>
                </a:solidFill>
              </a:rPr>
              <a:t>names:   </a:t>
            </a:r>
            <a:r>
              <a:rPr lang="en-US" b="1" dirty="0" err="1" smtClean="0">
                <a:solidFill>
                  <a:schemeClr val="bg1"/>
                </a:solidFill>
              </a:rPr>
              <a:t>Bhanu</a:t>
            </a:r>
            <a:r>
              <a:rPr lang="en-US" b="1" dirty="0" smtClean="0">
                <a:solidFill>
                  <a:schemeClr val="bg1"/>
                </a:solidFill>
              </a:rPr>
              <a:t> </a:t>
            </a:r>
            <a:r>
              <a:rPr lang="en-US" b="1" dirty="0" err="1" smtClean="0">
                <a:solidFill>
                  <a:schemeClr val="bg1"/>
                </a:solidFill>
              </a:rPr>
              <a:t>Kiran</a:t>
            </a:r>
            <a:r>
              <a:rPr lang="en-US" b="1" dirty="0" smtClean="0">
                <a:solidFill>
                  <a:schemeClr val="bg1"/>
                </a:solidFill>
              </a:rPr>
              <a:t> </a:t>
            </a:r>
            <a:r>
              <a:rPr lang="en-US" b="1" dirty="0" smtClean="0">
                <a:solidFill>
                  <a:schemeClr val="bg1"/>
                </a:solidFill>
              </a:rPr>
              <a:t>(team leader)</a:t>
            </a:r>
          </a:p>
          <a:p>
            <a:r>
              <a:rPr lang="en-US" b="1" dirty="0" smtClean="0">
                <a:solidFill>
                  <a:schemeClr val="bg1"/>
                </a:solidFill>
              </a:rPr>
              <a:t>  </a:t>
            </a:r>
            <a:r>
              <a:rPr lang="en-US" b="1" dirty="0" smtClean="0">
                <a:solidFill>
                  <a:schemeClr val="bg1"/>
                </a:solidFill>
              </a:rPr>
              <a:t>                            </a:t>
            </a:r>
            <a:r>
              <a:rPr lang="en-US" b="1" dirty="0" err="1" smtClean="0">
                <a:solidFill>
                  <a:schemeClr val="bg1"/>
                </a:solidFill>
              </a:rPr>
              <a:t>Aayushi</a:t>
            </a:r>
            <a:r>
              <a:rPr lang="en-US" b="1" dirty="0" smtClean="0">
                <a:solidFill>
                  <a:schemeClr val="bg1"/>
                </a:solidFill>
              </a:rPr>
              <a:t> Rajesh</a:t>
            </a:r>
          </a:p>
          <a:p>
            <a:r>
              <a:rPr lang="en-US" b="1" dirty="0" smtClean="0">
                <a:solidFill>
                  <a:schemeClr val="bg1"/>
                </a:solidFill>
              </a:rPr>
              <a:t> </a:t>
            </a:r>
            <a:r>
              <a:rPr lang="en-US" b="1" dirty="0" smtClean="0">
                <a:solidFill>
                  <a:schemeClr val="bg1"/>
                </a:solidFill>
              </a:rPr>
              <a:t>                             </a:t>
            </a:r>
            <a:r>
              <a:rPr lang="en-US" b="1" dirty="0" err="1" smtClean="0">
                <a:solidFill>
                  <a:schemeClr val="bg1"/>
                </a:solidFill>
              </a:rPr>
              <a:t>Pratiksha</a:t>
            </a:r>
            <a:r>
              <a:rPr lang="en-US" b="1" dirty="0" smtClean="0">
                <a:solidFill>
                  <a:schemeClr val="bg1"/>
                </a:solidFill>
              </a:rPr>
              <a:t> </a:t>
            </a:r>
            <a:r>
              <a:rPr lang="en-US" b="1" dirty="0" err="1" smtClean="0">
                <a:solidFill>
                  <a:schemeClr val="bg1"/>
                </a:solidFill>
              </a:rPr>
              <a:t>Gohil</a:t>
            </a:r>
            <a:endParaRPr lang="en-US" b="1" dirty="0" smtClean="0">
              <a:solidFill>
                <a:schemeClr val="bg1"/>
              </a:solidFill>
            </a:endParaRPr>
          </a:p>
          <a:p>
            <a:r>
              <a:rPr lang="en-US" b="1" dirty="0" smtClean="0">
                <a:solidFill>
                  <a:schemeClr val="bg1"/>
                </a:solidFill>
              </a:rPr>
              <a:t> </a:t>
            </a:r>
            <a:r>
              <a:rPr lang="en-US" b="1" dirty="0" smtClean="0">
                <a:solidFill>
                  <a:schemeClr val="bg1"/>
                </a:solidFill>
              </a:rPr>
              <a:t>                            </a:t>
            </a:r>
            <a:r>
              <a:rPr lang="en-US" b="1" dirty="0" err="1" smtClean="0">
                <a:solidFill>
                  <a:schemeClr val="bg1"/>
                </a:solidFill>
              </a:rPr>
              <a:t>Jasmi</a:t>
            </a:r>
            <a:r>
              <a:rPr lang="en-US" b="1" dirty="0" smtClean="0">
                <a:solidFill>
                  <a:schemeClr val="bg1"/>
                </a:solidFill>
              </a:rPr>
              <a:t> </a:t>
            </a:r>
            <a:r>
              <a:rPr lang="en-US" b="1" dirty="0" err="1" smtClean="0">
                <a:solidFill>
                  <a:schemeClr val="bg1"/>
                </a:solidFill>
              </a:rPr>
              <a:t>Golani</a:t>
            </a:r>
            <a:endParaRPr lang="en-US" b="1" dirty="0" smtClean="0">
              <a:solidFill>
                <a:schemeClr val="bg1"/>
              </a:solidFill>
            </a:endParaRPr>
          </a:p>
          <a:p>
            <a:r>
              <a:rPr lang="en-US" b="1" dirty="0" smtClean="0">
                <a:solidFill>
                  <a:schemeClr val="bg1"/>
                </a:solidFill>
              </a:rPr>
              <a:t>                             </a:t>
            </a:r>
            <a:r>
              <a:rPr lang="en-US" b="1" dirty="0" err="1" smtClean="0">
                <a:solidFill>
                  <a:schemeClr val="bg1"/>
                </a:solidFill>
              </a:rPr>
              <a:t>Arjun</a:t>
            </a:r>
            <a:r>
              <a:rPr lang="en-US" b="1" dirty="0" smtClean="0">
                <a:solidFill>
                  <a:schemeClr val="bg1"/>
                </a:solidFill>
              </a:rPr>
              <a:t> </a:t>
            </a:r>
            <a:r>
              <a:rPr lang="en-US" b="1" dirty="0" err="1" smtClean="0">
                <a:solidFill>
                  <a:schemeClr val="bg1"/>
                </a:solidFill>
              </a:rPr>
              <a:t>Anjana</a:t>
            </a:r>
            <a:r>
              <a:rPr lang="en-US" b="1" dirty="0" smtClean="0">
                <a:solidFill>
                  <a:schemeClr val="bg1"/>
                </a:solidFill>
              </a:rPr>
              <a:t>        </a:t>
            </a:r>
            <a:endParaRPr lang="en-US" b="1" dirty="0">
              <a:solidFill>
                <a:schemeClr val="bg1"/>
              </a:solidFill>
            </a:endParaRPr>
          </a:p>
          <a:p>
            <a:r>
              <a:rPr lang="en-US" b="1" dirty="0" smtClean="0">
                <a:solidFill>
                  <a:schemeClr val="bg1"/>
                </a:solidFill>
              </a:rPr>
              <a:t>Date  : 14-03-2026    </a:t>
            </a:r>
            <a:endParaRPr lang="en-IN" b="1" dirty="0">
              <a:solidFill>
                <a:schemeClr val="bg1"/>
              </a:solidFill>
            </a:endParaRPr>
          </a:p>
        </p:txBody>
      </p:sp>
    </p:spTree>
    <p:extLst>
      <p:ext uri="{BB962C8B-B14F-4D97-AF65-F5344CB8AC3E}">
        <p14:creationId xmlns:p14="http://schemas.microsoft.com/office/powerpoint/2010/main" xmlns="" val="4988540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9" name="TextBox 8">
            <a:extLst>
              <a:ext uri="{FF2B5EF4-FFF2-40B4-BE49-F238E27FC236}">
                <a16:creationId xmlns:a16="http://schemas.microsoft.com/office/drawing/2014/main" xmlns="" id="{091B843F-6928-3290-2287-5FA1F531B685}"/>
              </a:ext>
            </a:extLst>
          </p:cNvPr>
          <p:cNvSpPr txBox="1"/>
          <p:nvPr/>
        </p:nvSpPr>
        <p:spPr>
          <a:xfrm>
            <a:off x="210314" y="1360129"/>
            <a:ext cx="10435915" cy="5150192"/>
          </a:xfrm>
          <a:prstGeom prst="rect">
            <a:avLst/>
          </a:prstGeom>
          <a:noFill/>
        </p:spPr>
        <p:txBody>
          <a:bodyPr wrap="square" rtlCol="0">
            <a:spAutoFit/>
          </a:bodyPr>
          <a:lstStyle/>
          <a:p>
            <a:pPr marL="231642" indent="-231642">
              <a:spcAft>
                <a:spcPts val="800"/>
              </a:spcAft>
              <a:buFont typeface="Arial" panose="020B0604020202020204" pitchFamily="34" charset="0"/>
              <a:buChar char="•"/>
            </a:pPr>
            <a:r>
              <a:rPr lang="en-US" sz="1800" b="1" dirty="0">
                <a:latin typeface="+mn-lt"/>
              </a:rPr>
              <a:t>Brief Overview</a:t>
            </a:r>
            <a:r>
              <a:rPr lang="en-US" sz="1800" b="1" dirty="0" smtClean="0">
                <a:latin typeface="+mn-lt"/>
              </a:rPr>
              <a:t>: </a:t>
            </a:r>
            <a:r>
              <a:rPr lang="en-US" sz="1800" dirty="0" smtClean="0">
                <a:latin typeface="+mn-lt"/>
              </a:rPr>
              <a:t>LPG accidents cause significant injuries and property damage annually. Gas leaks, explosions, and fires pose serious threats to residential and industrial safety, requiring immediate detection and response systems </a:t>
            </a:r>
            <a:r>
              <a:rPr lang="en-US" sz="1800" dirty="0" smtClean="0">
                <a:latin typeface="+mn-lt"/>
              </a:rPr>
              <a:t>. shortage </a:t>
            </a:r>
            <a:r>
              <a:rPr lang="en-US" sz="1800" dirty="0" smtClean="0">
                <a:latin typeface="+mn-lt"/>
              </a:rPr>
              <a:t>of trained workforce with green skills in the energy sector. Traditional training methods are slow, expensive, and cannot scale to meet growing demand for sustainable energy </a:t>
            </a:r>
            <a:r>
              <a:rPr lang="en-US" sz="1800" dirty="0" smtClean="0">
                <a:latin typeface="+mn-lt"/>
              </a:rPr>
              <a:t>professionals. Reactive </a:t>
            </a:r>
            <a:r>
              <a:rPr lang="en-US" sz="1800" dirty="0" smtClean="0">
                <a:latin typeface="+mn-lt"/>
              </a:rPr>
              <a:t>maintenance leads to equipment failures and costly downtime. Without predictive capabilities, organizations cannot optimize maintenance schedules or prevent accidents before they occur. Inefficient energy consumption patterns increase costs and environmental impact. Users lack visibility into usage patterns and cannot make informed decisions to optimize </a:t>
            </a:r>
            <a:r>
              <a:rPr lang="en-US" sz="1800" dirty="0" smtClean="0">
                <a:latin typeface="+mn-lt"/>
              </a:rPr>
              <a:t>consumption.</a:t>
            </a:r>
            <a:endParaRPr lang="en-US" sz="1800" dirty="0">
              <a:latin typeface="+mn-lt"/>
            </a:endParaRPr>
          </a:p>
          <a:p>
            <a:pPr marL="231642" indent="-231642">
              <a:spcAft>
                <a:spcPts val="800"/>
              </a:spcAft>
              <a:buFont typeface="Arial" panose="020B0604020202020204" pitchFamily="34" charset="0"/>
              <a:buChar char="•"/>
            </a:pPr>
            <a:endParaRPr lang="en-US" sz="1800" dirty="0">
              <a:latin typeface="+mn-lt"/>
            </a:endParaRPr>
          </a:p>
          <a:p>
            <a:pPr marL="231642" indent="-231642">
              <a:spcAft>
                <a:spcPts val="800"/>
              </a:spcAft>
              <a:buFont typeface="Arial" panose="020B0604020202020204" pitchFamily="34" charset="0"/>
              <a:buChar char="•"/>
            </a:pPr>
            <a:r>
              <a:rPr lang="en-US" sz="1800" b="1" dirty="0">
                <a:latin typeface="+mn-lt"/>
              </a:rPr>
              <a:t>Key Objectives:</a:t>
            </a:r>
            <a:r>
              <a:rPr lang="en-US" sz="1800" dirty="0">
                <a:latin typeface="+mn-lt"/>
              </a:rPr>
              <a:t/>
            </a:r>
            <a:br>
              <a:rPr lang="en-US" sz="1800" dirty="0">
                <a:latin typeface="+mn-lt"/>
              </a:rPr>
            </a:br>
            <a:r>
              <a:rPr lang="en-US" sz="1800" dirty="0" smtClean="0">
                <a:latin typeface="+mn-lt"/>
              </a:rPr>
              <a:t>1. </a:t>
            </a:r>
            <a:r>
              <a:rPr lang="en-US" sz="1800" dirty="0" smtClean="0"/>
              <a:t>Real-Time LPG Leak </a:t>
            </a:r>
            <a:r>
              <a:rPr lang="en-US" sz="1800" dirty="0" smtClean="0"/>
              <a:t>Detection</a:t>
            </a:r>
          </a:p>
          <a:p>
            <a:pPr marL="231642" indent="-231642">
              <a:spcAft>
                <a:spcPts val="800"/>
              </a:spcAft>
              <a:buFont typeface="Arial" panose="020B0604020202020204" pitchFamily="34" charset="0"/>
              <a:buChar char="•"/>
            </a:pPr>
            <a:r>
              <a:rPr lang="en-US" sz="1800" dirty="0" smtClean="0">
                <a:latin typeface="+mn-lt"/>
              </a:rPr>
              <a:t>2.</a:t>
            </a:r>
            <a:r>
              <a:rPr lang="en-US" sz="1800" dirty="0" smtClean="0"/>
              <a:t> AI-Powered Predictive Analytics</a:t>
            </a:r>
          </a:p>
          <a:p>
            <a:pPr marL="231642" indent="-231642">
              <a:spcAft>
                <a:spcPts val="800"/>
              </a:spcAft>
              <a:buFont typeface="Arial" panose="020B0604020202020204" pitchFamily="34" charset="0"/>
              <a:buChar char="•"/>
            </a:pPr>
            <a:r>
              <a:rPr lang="en-US" sz="1800" dirty="0" smtClean="0">
                <a:latin typeface="+mn-lt"/>
              </a:rPr>
              <a:t>3.</a:t>
            </a:r>
            <a:r>
              <a:rPr lang="en-US" sz="1800" dirty="0" smtClean="0"/>
              <a:t> Green Skills Training Platform</a:t>
            </a:r>
          </a:p>
          <a:p>
            <a:pPr marL="231642" indent="-231642">
              <a:spcAft>
                <a:spcPts val="800"/>
              </a:spcAft>
              <a:buFont typeface="Arial" panose="020B0604020202020204" pitchFamily="34" charset="0"/>
              <a:buChar char="•"/>
            </a:pPr>
            <a:r>
              <a:rPr lang="en-US" sz="1800" dirty="0" smtClean="0">
                <a:latin typeface="+mn-lt"/>
              </a:rPr>
              <a:t>4. </a:t>
            </a:r>
            <a:r>
              <a:rPr lang="en-US" sz="1800" dirty="0" smtClean="0"/>
              <a:t>Automated Safety Systems</a:t>
            </a:r>
          </a:p>
          <a:p>
            <a:pPr marL="231642" indent="-231642">
              <a:spcAft>
                <a:spcPts val="800"/>
              </a:spcAft>
              <a:buFont typeface="Arial" panose="020B0604020202020204" pitchFamily="34" charset="0"/>
              <a:buChar char="•"/>
            </a:pPr>
            <a:endParaRPr lang="en-US" sz="1800" dirty="0">
              <a:latin typeface="+mn-lt"/>
            </a:endParaRPr>
          </a:p>
        </p:txBody>
      </p:sp>
      <p:sp>
        <p:nvSpPr>
          <p:cNvPr id="2" name="TextBox 1">
            <a:extLst>
              <a:ext uri="{FF2B5EF4-FFF2-40B4-BE49-F238E27FC236}">
                <a16:creationId xmlns:a16="http://schemas.microsoft.com/office/drawing/2014/main" xmlns="" id="{687AFAD5-578C-DC2D-F127-90FF4287354D}"/>
              </a:ext>
            </a:extLst>
          </p:cNvPr>
          <p:cNvSpPr txBox="1"/>
          <p:nvPr/>
        </p:nvSpPr>
        <p:spPr>
          <a:xfrm>
            <a:off x="202071" y="972537"/>
            <a:ext cx="5904091" cy="400110"/>
          </a:xfrm>
          <a:prstGeom prst="rect">
            <a:avLst/>
          </a:prstGeom>
          <a:noFill/>
        </p:spPr>
        <p:txBody>
          <a:bodyPr wrap="square">
            <a:spAutoFit/>
          </a:bodyPr>
          <a:lstStyle/>
          <a:p>
            <a:r>
              <a:rPr lang="en-IN" sz="2000" b="1" dirty="0">
                <a:solidFill>
                  <a:srgbClr val="213163"/>
                </a:solidFill>
              </a:rPr>
              <a:t>Problem Statement</a:t>
            </a:r>
            <a:endParaRPr lang="en-IN" sz="2000" dirty="0">
              <a:solidFill>
                <a:srgbClr val="213163"/>
              </a:solidFill>
            </a:endParaRPr>
          </a:p>
        </p:txBody>
      </p:sp>
      <p:sp>
        <p:nvSpPr>
          <p:cNvPr id="6" name="TextBox 5">
            <a:extLst>
              <a:ext uri="{FF2B5EF4-FFF2-40B4-BE49-F238E27FC236}">
                <a16:creationId xmlns:a16="http://schemas.microsoft.com/office/drawing/2014/main" xmlns="" id="{8041DB6F-3EF1-B8E1-0B0C-6BB8EF6A90DC}"/>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dirty="0">
                <a:latin typeface="+mn-lt"/>
              </a:rPr>
              <a:t>Source : </a:t>
            </a:r>
          </a:p>
        </p:txBody>
      </p:sp>
      <p:sp>
        <p:nvSpPr>
          <p:cNvPr id="7" name="TextBox 6">
            <a:extLst>
              <a:ext uri="{FF2B5EF4-FFF2-40B4-BE49-F238E27FC236}">
                <a16:creationId xmlns:a16="http://schemas.microsoft.com/office/drawing/2014/main" xmlns="" id="{7EA2C555-3BC3-F99C-66A0-2DF7D76A6867}"/>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dirty="0">
                <a:solidFill>
                  <a:srgbClr val="0000FF"/>
                </a:solidFill>
                <a:latin typeface="+mn-lt"/>
                <a:hlinkClick r:id="rId3">
                  <a:extLst>
                    <a:ext uri="{A12FA001-AC4F-418D-AE19-62706E023703}">
                      <ahyp:hlinkClr xmlns:ahyp="http://schemas.microsoft.com/office/drawing/2018/hyperlinkcolor" xmlns="" val="tx"/>
                    </a:ext>
                  </a:extLst>
                </a:hlinkClick>
              </a:rPr>
              <a:t>www.freepik.com/</a:t>
            </a:r>
            <a:endParaRPr lang="en-IN" sz="1200" dirty="0">
              <a:solidFill>
                <a:srgbClr val="0000FF"/>
              </a:solidFill>
              <a:latin typeface="+mn-lt"/>
            </a:endParaRPr>
          </a:p>
        </p:txBody>
      </p:sp>
      <p:cxnSp>
        <p:nvCxnSpPr>
          <p:cNvPr id="12" name="Straight Connector 11">
            <a:extLst>
              <a:ext uri="{FF2B5EF4-FFF2-40B4-BE49-F238E27FC236}">
                <a16:creationId xmlns:a16="http://schemas.microsoft.com/office/drawing/2014/main" xmlns="" id="{1365C893-2FDF-21FF-3B51-777D91501B7C}"/>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27460435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9" name="TextBox 8">
            <a:extLst>
              <a:ext uri="{FF2B5EF4-FFF2-40B4-BE49-F238E27FC236}">
                <a16:creationId xmlns:a16="http://schemas.microsoft.com/office/drawing/2014/main" xmlns="" id="{091B843F-6928-3290-2287-5FA1F531B685}"/>
              </a:ext>
            </a:extLst>
          </p:cNvPr>
          <p:cNvSpPr txBox="1"/>
          <p:nvPr/>
        </p:nvSpPr>
        <p:spPr>
          <a:xfrm>
            <a:off x="210314" y="1451569"/>
            <a:ext cx="10435915" cy="5130379"/>
          </a:xfrm>
          <a:prstGeom prst="rect">
            <a:avLst/>
          </a:prstGeom>
          <a:noFill/>
        </p:spPr>
        <p:txBody>
          <a:bodyPr wrap="square" rtlCol="0">
            <a:spAutoFit/>
          </a:bodyPr>
          <a:lstStyle/>
          <a:p>
            <a:r>
              <a:rPr lang="en-US" sz="1800" b="1" dirty="0">
                <a:latin typeface="+mn-lt"/>
              </a:rPr>
              <a:t>Dataset Description</a:t>
            </a:r>
            <a:r>
              <a:rPr lang="en-US" sz="1800" b="1" dirty="0" smtClean="0">
                <a:latin typeface="+mn-lt"/>
              </a:rPr>
              <a:t>: </a:t>
            </a:r>
            <a:r>
              <a:rPr lang="en-US" sz="1800" dirty="0" smtClean="0"/>
              <a:t>Building Energy Consumption Dataset from </a:t>
            </a:r>
            <a:r>
              <a:rPr lang="en-US" sz="1800" dirty="0" err="1" smtClean="0"/>
              <a:t>Kaggle</a:t>
            </a:r>
            <a:r>
              <a:rPr lang="en-US" sz="1800" dirty="0" smtClean="0"/>
              <a:t> - A comprehensive dataset collected over 4.5 months using </a:t>
            </a:r>
            <a:r>
              <a:rPr lang="en-US" sz="1800" dirty="0" err="1" smtClean="0"/>
              <a:t>ZigBee</a:t>
            </a:r>
            <a:r>
              <a:rPr lang="en-US" sz="1800" dirty="0" smtClean="0"/>
              <a:t> wireless sensors in a low-energy building environment. R</a:t>
            </a:r>
            <a:r>
              <a:rPr lang="en-US" sz="1800" dirty="0" smtClean="0"/>
              <a:t>eal </a:t>
            </a:r>
            <a:r>
              <a:rPr lang="en-US" sz="1800" dirty="0" smtClean="0"/>
              <a:t>sensor data collected from a low-energy building over about </a:t>
            </a:r>
            <a:r>
              <a:rPr lang="en-US" sz="1800" b="1" dirty="0" smtClean="0"/>
              <a:t>4.5 months</a:t>
            </a:r>
            <a:r>
              <a:rPr lang="en-US" sz="1800" dirty="0" smtClean="0"/>
              <a:t>. It includes </a:t>
            </a:r>
            <a:r>
              <a:rPr lang="en-US" sz="1800" b="1" dirty="0" smtClean="0"/>
              <a:t>19,735 observations and 29 features</a:t>
            </a:r>
            <a:r>
              <a:rPr lang="en-US" sz="1800" dirty="0" smtClean="0"/>
              <a:t>, with no missing values, making it suitable for machine learning analysis.</a:t>
            </a:r>
          </a:p>
          <a:p>
            <a:r>
              <a:rPr lang="en-US" sz="1800" dirty="0" smtClean="0"/>
              <a:t>Before training the models, the data was preprocessed. Outliers were removed using the </a:t>
            </a:r>
            <a:r>
              <a:rPr lang="en-US" sz="1800" b="1" dirty="0" err="1" smtClean="0"/>
              <a:t>Interquartile</a:t>
            </a:r>
            <a:r>
              <a:rPr lang="en-US" sz="1800" b="1" dirty="0" smtClean="0"/>
              <a:t> Range (IQR) method</a:t>
            </a:r>
            <a:r>
              <a:rPr lang="en-US" sz="1800" dirty="0" smtClean="0"/>
              <a:t>, and new features such as hour, weekday, and month were extracted from timestamps. Correlation analysis was performed to remove less relevant features, improving model efficiency. The dataset was then divided into </a:t>
            </a:r>
            <a:r>
              <a:rPr lang="en-US" sz="1800" b="1" dirty="0" smtClean="0"/>
              <a:t>70% training data and 30% testing data</a:t>
            </a:r>
            <a:r>
              <a:rPr lang="en-US" sz="1800" dirty="0" smtClean="0"/>
              <a:t>.</a:t>
            </a:r>
          </a:p>
          <a:p>
            <a:r>
              <a:rPr lang="en-US" sz="1800" dirty="0" smtClean="0"/>
              <a:t>Important features in the dataset include temperature, humidity, occupancy data, timestamps, weather conditions, and energy consumption. Analysis showed that the </a:t>
            </a:r>
            <a:r>
              <a:rPr lang="en-US" sz="1800" b="1" dirty="0" smtClean="0"/>
              <a:t>hour of the day</a:t>
            </a:r>
            <a:r>
              <a:rPr lang="en-US" sz="1800" dirty="0" smtClean="0"/>
              <a:t> is one of the most important factors influencing energy consumption patterns. This insight helps the AI model make more accurate predictions and improve energy </a:t>
            </a:r>
            <a:r>
              <a:rPr lang="en-US" sz="1800" dirty="0" smtClean="0"/>
              <a:t>management.</a:t>
            </a:r>
            <a:endParaRPr lang="en-US" sz="1800" dirty="0" smtClean="0"/>
          </a:p>
          <a:p>
            <a:pPr marL="231642" indent="-231642">
              <a:spcAft>
                <a:spcPts val="800"/>
              </a:spcAft>
              <a:buFont typeface="Arial" panose="020B0604020202020204" pitchFamily="34" charset="0"/>
              <a:buChar char="•"/>
            </a:pPr>
            <a:endParaRPr lang="en-US" sz="1800" dirty="0" smtClean="0"/>
          </a:p>
          <a:p>
            <a:pPr marL="231642" indent="-231642">
              <a:spcAft>
                <a:spcPts val="800"/>
              </a:spcAft>
              <a:buFont typeface="Arial" panose="020B0604020202020204" pitchFamily="34" charset="0"/>
              <a:buChar char="•"/>
            </a:pPr>
            <a:endParaRPr lang="en-US" sz="1800" dirty="0">
              <a:latin typeface="+mn-lt"/>
            </a:endParaRPr>
          </a:p>
          <a:p>
            <a:pPr marL="231642" indent="-231642">
              <a:spcAft>
                <a:spcPts val="800"/>
              </a:spcAft>
            </a:pPr>
            <a:endParaRPr lang="en-US" sz="1800" dirty="0">
              <a:latin typeface="+mn-lt"/>
            </a:endParaRPr>
          </a:p>
        </p:txBody>
      </p:sp>
      <p:sp>
        <p:nvSpPr>
          <p:cNvPr id="2" name="TextBox 1">
            <a:extLst>
              <a:ext uri="{FF2B5EF4-FFF2-40B4-BE49-F238E27FC236}">
                <a16:creationId xmlns:a16="http://schemas.microsoft.com/office/drawing/2014/main" xmlns="" id="{687AFAD5-578C-DC2D-F127-90FF4287354D}"/>
              </a:ext>
            </a:extLst>
          </p:cNvPr>
          <p:cNvSpPr txBox="1"/>
          <p:nvPr/>
        </p:nvSpPr>
        <p:spPr>
          <a:xfrm>
            <a:off x="202071" y="972537"/>
            <a:ext cx="5904091" cy="400110"/>
          </a:xfrm>
          <a:prstGeom prst="rect">
            <a:avLst/>
          </a:prstGeom>
          <a:noFill/>
        </p:spPr>
        <p:txBody>
          <a:bodyPr wrap="square">
            <a:spAutoFit/>
          </a:bodyPr>
          <a:lstStyle/>
          <a:p>
            <a:r>
              <a:rPr lang="en-IN" sz="2000" b="1" dirty="0">
                <a:solidFill>
                  <a:srgbClr val="213163"/>
                </a:solidFill>
              </a:rPr>
              <a:t>Dataset </a:t>
            </a:r>
            <a:r>
              <a:rPr lang="en-IN" sz="2000" b="1" dirty="0" smtClean="0">
                <a:solidFill>
                  <a:srgbClr val="213163"/>
                </a:solidFill>
              </a:rPr>
              <a:t>Overview</a:t>
            </a:r>
            <a:endParaRPr lang="en-IN" sz="2000" dirty="0">
              <a:solidFill>
                <a:srgbClr val="213163"/>
              </a:solidFill>
            </a:endParaRPr>
          </a:p>
        </p:txBody>
      </p:sp>
      <p:sp>
        <p:nvSpPr>
          <p:cNvPr id="6" name="TextBox 5">
            <a:extLst>
              <a:ext uri="{FF2B5EF4-FFF2-40B4-BE49-F238E27FC236}">
                <a16:creationId xmlns:a16="http://schemas.microsoft.com/office/drawing/2014/main" xmlns="" id="{8041DB6F-3EF1-B8E1-0B0C-6BB8EF6A90DC}"/>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dirty="0">
                <a:latin typeface="+mn-lt"/>
              </a:rPr>
              <a:t>Source : </a:t>
            </a:r>
          </a:p>
        </p:txBody>
      </p:sp>
      <p:sp>
        <p:nvSpPr>
          <p:cNvPr id="7" name="TextBox 6">
            <a:extLst>
              <a:ext uri="{FF2B5EF4-FFF2-40B4-BE49-F238E27FC236}">
                <a16:creationId xmlns:a16="http://schemas.microsoft.com/office/drawing/2014/main" xmlns="" id="{7EA2C555-3BC3-F99C-66A0-2DF7D76A6867}"/>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dirty="0">
                <a:solidFill>
                  <a:srgbClr val="0000FF"/>
                </a:solidFill>
                <a:latin typeface="+mn-lt"/>
                <a:hlinkClick r:id="rId3">
                  <a:extLst>
                    <a:ext uri="{A12FA001-AC4F-418D-AE19-62706E023703}">
                      <ahyp:hlinkClr xmlns:ahyp="http://schemas.microsoft.com/office/drawing/2018/hyperlinkcolor" xmlns="" val="tx"/>
                    </a:ext>
                  </a:extLst>
                </a:hlinkClick>
              </a:rPr>
              <a:t>www.freepik.com/</a:t>
            </a:r>
            <a:endParaRPr lang="en-IN" sz="1200" dirty="0">
              <a:solidFill>
                <a:srgbClr val="0000FF"/>
              </a:solidFill>
              <a:latin typeface="+mn-lt"/>
            </a:endParaRPr>
          </a:p>
        </p:txBody>
      </p:sp>
      <p:cxnSp>
        <p:nvCxnSpPr>
          <p:cNvPr id="12" name="Straight Connector 11">
            <a:extLst>
              <a:ext uri="{FF2B5EF4-FFF2-40B4-BE49-F238E27FC236}">
                <a16:creationId xmlns:a16="http://schemas.microsoft.com/office/drawing/2014/main" xmlns="" id="{1365C893-2FDF-21FF-3B51-777D91501B7C}"/>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10662887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9" name="TextBox 8">
            <a:extLst>
              <a:ext uri="{FF2B5EF4-FFF2-40B4-BE49-F238E27FC236}">
                <a16:creationId xmlns:a16="http://schemas.microsoft.com/office/drawing/2014/main" xmlns="" id="{091B843F-6928-3290-2287-5FA1F531B685}"/>
              </a:ext>
            </a:extLst>
          </p:cNvPr>
          <p:cNvSpPr txBox="1"/>
          <p:nvPr/>
        </p:nvSpPr>
        <p:spPr>
          <a:xfrm>
            <a:off x="210314" y="1447800"/>
            <a:ext cx="11250166" cy="3795911"/>
          </a:xfrm>
          <a:prstGeom prst="rect">
            <a:avLst/>
          </a:prstGeom>
          <a:noFill/>
        </p:spPr>
        <p:txBody>
          <a:bodyPr wrap="square" rtlCol="0">
            <a:spAutoFit/>
          </a:bodyPr>
          <a:lstStyle/>
          <a:p>
            <a:pPr marL="231642" indent="-231642">
              <a:spcAft>
                <a:spcPts val="800"/>
              </a:spcAft>
              <a:buFont typeface="Arial" panose="020B0604020202020204" pitchFamily="34" charset="0"/>
              <a:buChar char="•"/>
            </a:pPr>
            <a:r>
              <a:rPr lang="en-US" sz="1800" b="1" dirty="0">
                <a:latin typeface="+mn-lt"/>
              </a:rPr>
              <a:t>Approach:</a:t>
            </a:r>
          </a:p>
          <a:p>
            <a:r>
              <a:rPr lang="en-US" sz="1800" dirty="0" smtClean="0"/>
              <a:t>The </a:t>
            </a:r>
            <a:r>
              <a:rPr lang="en-US" sz="1800" dirty="0" smtClean="0"/>
              <a:t>overall methodology used to develop the </a:t>
            </a:r>
            <a:r>
              <a:rPr lang="en-US" sz="1800" dirty="0" err="1" smtClean="0"/>
              <a:t>EcoGuard</a:t>
            </a:r>
            <a:r>
              <a:rPr lang="en-US" sz="1800" dirty="0" smtClean="0"/>
              <a:t> AI system. The approach begins with collecting energy consumption and environmental data from </a:t>
            </a:r>
            <a:r>
              <a:rPr lang="en-US" sz="1800" dirty="0" err="1" smtClean="0"/>
              <a:t>IoT</a:t>
            </a:r>
            <a:r>
              <a:rPr lang="en-US" sz="1800" dirty="0" smtClean="0"/>
              <a:t> sensors and datasets. The collected data is then processed using several preprocessing techniques such as outlier removal, feature engineering, and correlation analysis to ensure accuracy and reliability.</a:t>
            </a:r>
          </a:p>
          <a:p>
            <a:r>
              <a:rPr lang="en-US" sz="1800" dirty="0" smtClean="0"/>
              <a:t>After preprocessing, the dataset is divided into training and testing sets so that machine learning models can be trained and evaluated properly. Different algorithms are applied to analyze patterns in energy consumption and gas usage. These models help predict energy demand, detect anomalies, and improve LPG safety monitoring.</a:t>
            </a:r>
          </a:p>
          <a:p>
            <a:r>
              <a:rPr lang="en-US" sz="1800" dirty="0" smtClean="0"/>
              <a:t>Finally, the trained model is integrated with </a:t>
            </a:r>
            <a:r>
              <a:rPr lang="en-US" sz="1800" dirty="0" err="1" smtClean="0"/>
              <a:t>IoT</a:t>
            </a:r>
            <a:r>
              <a:rPr lang="en-US" sz="1800" dirty="0" smtClean="0"/>
              <a:t> devices and a mobile application. This integration enables real-time monitoring, predictive analytics, and automated alerts to improve safety and energy efficiency.</a:t>
            </a:r>
          </a:p>
          <a:p>
            <a:pPr marL="231642" indent="-231642">
              <a:spcAft>
                <a:spcPts val="800"/>
              </a:spcAft>
            </a:pPr>
            <a:r>
              <a:rPr lang="en-US" sz="1800" dirty="0">
                <a:latin typeface="+mn-lt"/>
              </a:rPr>
              <a:t/>
            </a:r>
            <a:br>
              <a:rPr lang="en-US" sz="1800" dirty="0">
                <a:latin typeface="+mn-lt"/>
              </a:rPr>
            </a:br>
            <a:endParaRPr lang="en-US" sz="1800" dirty="0">
              <a:latin typeface="+mn-lt"/>
            </a:endParaRPr>
          </a:p>
        </p:txBody>
      </p:sp>
      <p:sp>
        <p:nvSpPr>
          <p:cNvPr id="2" name="TextBox 1">
            <a:extLst>
              <a:ext uri="{FF2B5EF4-FFF2-40B4-BE49-F238E27FC236}">
                <a16:creationId xmlns:a16="http://schemas.microsoft.com/office/drawing/2014/main" xmlns="" id="{687AFAD5-578C-DC2D-F127-90FF4287354D}"/>
              </a:ext>
            </a:extLst>
          </p:cNvPr>
          <p:cNvSpPr txBox="1"/>
          <p:nvPr/>
        </p:nvSpPr>
        <p:spPr>
          <a:xfrm>
            <a:off x="202071" y="972537"/>
            <a:ext cx="5904091" cy="400110"/>
          </a:xfrm>
          <a:prstGeom prst="rect">
            <a:avLst/>
          </a:prstGeom>
          <a:noFill/>
        </p:spPr>
        <p:txBody>
          <a:bodyPr wrap="square">
            <a:spAutoFit/>
          </a:bodyPr>
          <a:lstStyle/>
          <a:p>
            <a:r>
              <a:rPr lang="en-IN" sz="2000" b="1" dirty="0">
                <a:solidFill>
                  <a:srgbClr val="213163"/>
                </a:solidFill>
              </a:rPr>
              <a:t>Methodology</a:t>
            </a:r>
            <a:endParaRPr lang="en-IN" sz="2000" dirty="0">
              <a:solidFill>
                <a:srgbClr val="213163"/>
              </a:solidFill>
            </a:endParaRPr>
          </a:p>
        </p:txBody>
      </p:sp>
      <p:sp>
        <p:nvSpPr>
          <p:cNvPr id="6" name="TextBox 5">
            <a:extLst>
              <a:ext uri="{FF2B5EF4-FFF2-40B4-BE49-F238E27FC236}">
                <a16:creationId xmlns:a16="http://schemas.microsoft.com/office/drawing/2014/main" xmlns="" id="{8041DB6F-3EF1-B8E1-0B0C-6BB8EF6A90DC}"/>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dirty="0">
                <a:latin typeface="+mn-lt"/>
              </a:rPr>
              <a:t>Source : </a:t>
            </a:r>
          </a:p>
        </p:txBody>
      </p:sp>
      <p:sp>
        <p:nvSpPr>
          <p:cNvPr id="7" name="TextBox 6">
            <a:extLst>
              <a:ext uri="{FF2B5EF4-FFF2-40B4-BE49-F238E27FC236}">
                <a16:creationId xmlns:a16="http://schemas.microsoft.com/office/drawing/2014/main" xmlns="" id="{7EA2C555-3BC3-F99C-66A0-2DF7D76A6867}"/>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dirty="0">
                <a:solidFill>
                  <a:srgbClr val="0000FF"/>
                </a:solidFill>
                <a:latin typeface="+mn-lt"/>
                <a:hlinkClick r:id="rId3">
                  <a:extLst>
                    <a:ext uri="{A12FA001-AC4F-418D-AE19-62706E023703}">
                      <ahyp:hlinkClr xmlns:ahyp="http://schemas.microsoft.com/office/drawing/2018/hyperlinkcolor" xmlns="" val="tx"/>
                    </a:ext>
                  </a:extLst>
                </a:hlinkClick>
              </a:rPr>
              <a:t>www.freepik.com/</a:t>
            </a:r>
            <a:endParaRPr lang="en-IN" sz="1200" dirty="0">
              <a:solidFill>
                <a:srgbClr val="0000FF"/>
              </a:solidFill>
              <a:latin typeface="+mn-lt"/>
            </a:endParaRPr>
          </a:p>
        </p:txBody>
      </p:sp>
      <p:cxnSp>
        <p:nvCxnSpPr>
          <p:cNvPr id="12" name="Straight Connector 11">
            <a:extLst>
              <a:ext uri="{FF2B5EF4-FFF2-40B4-BE49-F238E27FC236}">
                <a16:creationId xmlns:a16="http://schemas.microsoft.com/office/drawing/2014/main" xmlns="" id="{1365C893-2FDF-21FF-3B51-777D91501B7C}"/>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20254300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3" name="TextBox 2">
            <a:extLst>
              <a:ext uri="{FF2B5EF4-FFF2-40B4-BE49-F238E27FC236}">
                <a16:creationId xmlns:a16="http://schemas.microsoft.com/office/drawing/2014/main" xmlns="" id="{02C0F50E-3048-BEA6-6962-A48C023C0388}"/>
              </a:ext>
            </a:extLst>
          </p:cNvPr>
          <p:cNvSpPr txBox="1"/>
          <p:nvPr/>
        </p:nvSpPr>
        <p:spPr>
          <a:xfrm>
            <a:off x="212231" y="914400"/>
            <a:ext cx="11644489" cy="3170099"/>
          </a:xfrm>
          <a:prstGeom prst="rect">
            <a:avLst/>
          </a:prstGeom>
          <a:noFill/>
        </p:spPr>
        <p:txBody>
          <a:bodyPr wrap="square">
            <a:spAutoFit/>
          </a:bodyPr>
          <a:lstStyle/>
          <a:p>
            <a:pPr>
              <a:buFont typeface="Arial" pitchFamily="34" charset="0"/>
              <a:buChar char="•"/>
            </a:pPr>
            <a:r>
              <a:rPr lang="en-US" sz="2000" b="1" dirty="0" smtClean="0"/>
              <a:t> </a:t>
            </a:r>
            <a:r>
              <a:rPr lang="en-US" sz="2000" b="1" dirty="0" smtClean="0"/>
              <a:t>Algorithms Used</a:t>
            </a:r>
            <a:r>
              <a:rPr lang="en-US" sz="2000" b="1" dirty="0" smtClean="0"/>
              <a:t>:</a:t>
            </a:r>
          </a:p>
          <a:p>
            <a:r>
              <a:rPr lang="en-US" sz="2000" dirty="0" smtClean="0"/>
              <a:t/>
            </a:r>
            <a:br>
              <a:rPr lang="en-US" sz="2000" dirty="0" smtClean="0"/>
            </a:br>
            <a:r>
              <a:rPr lang="en-US" sz="2000" dirty="0" smtClean="0"/>
              <a:t>Random Forest, </a:t>
            </a:r>
            <a:r>
              <a:rPr lang="en-US" sz="2000" dirty="0" err="1" smtClean="0"/>
              <a:t>XGBoost</a:t>
            </a:r>
            <a:r>
              <a:rPr lang="en-US" sz="2000" dirty="0" smtClean="0"/>
              <a:t>, and Support Vector Machine (SVM). Random Forest is an ensemble learning method that combines multiple decision trees to improve prediction accuracy and reduce </a:t>
            </a:r>
            <a:r>
              <a:rPr lang="en-US" sz="2000" dirty="0" err="1" smtClean="0"/>
              <a:t>overfitting</a:t>
            </a:r>
            <a:r>
              <a:rPr lang="en-US" sz="2000" dirty="0" smtClean="0"/>
              <a:t>. </a:t>
            </a:r>
            <a:r>
              <a:rPr lang="en-US" sz="2000" dirty="0" err="1" smtClean="0"/>
              <a:t>XGBoost</a:t>
            </a:r>
            <a:r>
              <a:rPr lang="en-US" sz="2000" dirty="0" smtClean="0"/>
              <a:t> is a gradient boosting algorithm that builds models sequentially and includes regularization techniques to improve performance and speed</a:t>
            </a:r>
            <a:r>
              <a:rPr lang="en-US" sz="2000" dirty="0" smtClean="0"/>
              <a:t>.</a:t>
            </a:r>
          </a:p>
          <a:p>
            <a:r>
              <a:rPr lang="en-US" sz="2000" dirty="0" smtClean="0"/>
              <a:t>Support Vector Machine was used as a baseline model for comparison, but it showed lower accuracy on this dataset. The best performing model was the Extra Trees </a:t>
            </a:r>
            <a:r>
              <a:rPr lang="en-US" sz="2000" dirty="0" err="1" smtClean="0"/>
              <a:t>Regressor</a:t>
            </a:r>
            <a:r>
              <a:rPr lang="en-US" sz="2000" dirty="0" smtClean="0"/>
              <a:t>, which achieved an R² score of 74.41%. Tree-based models were selected because they handle complex and nonlinear relationships effectively and work well with large datasets without requiring extensive feature scaling.</a:t>
            </a:r>
            <a:endParaRPr lang="en-US" sz="2000" dirty="0" smtClean="0">
              <a:solidFill>
                <a:srgbClr val="213163"/>
              </a:solidFill>
            </a:endParaRPr>
          </a:p>
        </p:txBody>
      </p:sp>
    </p:spTree>
    <p:extLst>
      <p:ext uri="{BB962C8B-B14F-4D97-AF65-F5344CB8AC3E}">
        <p14:creationId xmlns:p14="http://schemas.microsoft.com/office/powerpoint/2010/main" xmlns="" val="13079258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xmlns="" id="{08ADD651-E02D-6A0F-1E19-CB2116BE51A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xmlns="" id="{88766EFA-A954-6AF4-DE00-197FE9726512}"/>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dirty="0">
                <a:latin typeface="+mn-lt"/>
              </a:rPr>
              <a:t>Source : </a:t>
            </a:r>
          </a:p>
        </p:txBody>
      </p:sp>
      <p:sp>
        <p:nvSpPr>
          <p:cNvPr id="7" name="TextBox 6">
            <a:extLst>
              <a:ext uri="{FF2B5EF4-FFF2-40B4-BE49-F238E27FC236}">
                <a16:creationId xmlns:a16="http://schemas.microsoft.com/office/drawing/2014/main" xmlns="" id="{B740A9D2-D722-480E-3DD4-6ADE2D9EDEA2}"/>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dirty="0">
                <a:solidFill>
                  <a:srgbClr val="0000FF"/>
                </a:solidFill>
                <a:latin typeface="+mn-lt"/>
                <a:hlinkClick r:id="rId3">
                  <a:extLst>
                    <a:ext uri="{A12FA001-AC4F-418D-AE19-62706E023703}">
                      <ahyp:hlinkClr xmlns:ahyp="http://schemas.microsoft.com/office/drawing/2018/hyperlinkcolor" xmlns="" val="tx"/>
                    </a:ext>
                  </a:extLst>
                </a:hlinkClick>
              </a:rPr>
              <a:t>www.freepik.com/</a:t>
            </a:r>
            <a:endParaRPr lang="en-IN" sz="1200" dirty="0">
              <a:solidFill>
                <a:srgbClr val="0000FF"/>
              </a:solidFill>
              <a:latin typeface="+mn-lt"/>
            </a:endParaRPr>
          </a:p>
        </p:txBody>
      </p:sp>
      <p:cxnSp>
        <p:nvCxnSpPr>
          <p:cNvPr id="12" name="Straight Connector 11">
            <a:extLst>
              <a:ext uri="{FF2B5EF4-FFF2-40B4-BE49-F238E27FC236}">
                <a16:creationId xmlns:a16="http://schemas.microsoft.com/office/drawing/2014/main" xmlns="" id="{1C9A7047-C50F-05FB-5166-D8A51220A43E}"/>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 name="Content Placeholder 2">
            <a:extLst>
              <a:ext uri="{FF2B5EF4-FFF2-40B4-BE49-F238E27FC236}">
                <a16:creationId xmlns:a16="http://schemas.microsoft.com/office/drawing/2014/main" xmlns="" id="{E593AA17-5B15-43A6-7AF2-5319AB973A56}"/>
              </a:ext>
            </a:extLst>
          </p:cNvPr>
          <p:cNvSpPr txBox="1">
            <a:spLocks/>
          </p:cNvSpPr>
          <p:nvPr/>
        </p:nvSpPr>
        <p:spPr>
          <a:xfrm>
            <a:off x="628650" y="1798320"/>
            <a:ext cx="11060430" cy="4378643"/>
          </a:xfrm>
          <a:prstGeom prst="rect">
            <a:avLst/>
          </a:prstGeom>
        </p:spPr>
        <p:txBody>
          <a:bodyPr>
            <a:normAutofit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b="1" dirty="0"/>
              <a:t>Model Performance:</a:t>
            </a:r>
          </a:p>
          <a:p>
            <a:r>
              <a:rPr lang="en-US" dirty="0" smtClean="0"/>
              <a:t>Model performance was evaluated using several statistical metrics to measure prediction accuracy and error levels. The primary metric used was the </a:t>
            </a:r>
            <a:r>
              <a:rPr lang="en-US" b="1" dirty="0" smtClean="0"/>
              <a:t>R² score</a:t>
            </a:r>
            <a:r>
              <a:rPr lang="en-US" dirty="0" smtClean="0"/>
              <a:t>, which indicates how well the model explains the variance in the dataset. A higher R² value means the model can better predict energy consumption patterns.</a:t>
            </a:r>
          </a:p>
          <a:p>
            <a:r>
              <a:rPr lang="en-US" dirty="0" smtClean="0"/>
              <a:t>In addition to R², error metrics such as </a:t>
            </a:r>
            <a:r>
              <a:rPr lang="en-US" b="1" dirty="0" smtClean="0"/>
              <a:t>Mean Absolute Error (MAE)</a:t>
            </a:r>
            <a:r>
              <a:rPr lang="en-US" dirty="0" smtClean="0"/>
              <a:t> and </a:t>
            </a:r>
            <a:r>
              <a:rPr lang="en-US" b="1" dirty="0" smtClean="0"/>
              <a:t>Root Mean Square Error (RMSE)</a:t>
            </a:r>
            <a:r>
              <a:rPr lang="en-US" dirty="0" smtClean="0"/>
              <a:t> were calculated. MAE measures the average magnitude of prediction errors, while RMSE penalizes larger errors more heavily.</a:t>
            </a:r>
          </a:p>
          <a:p>
            <a:r>
              <a:rPr lang="en-US" dirty="0" smtClean="0"/>
              <a:t>Among all tested models, the Extra Trees </a:t>
            </a:r>
            <a:r>
              <a:rPr lang="en-US" dirty="0" err="1" smtClean="0"/>
              <a:t>Regressor</a:t>
            </a:r>
            <a:r>
              <a:rPr lang="en-US" dirty="0" smtClean="0"/>
              <a:t> delivered the best results with an R² score of </a:t>
            </a:r>
            <a:r>
              <a:rPr lang="en-US" b="1" dirty="0" smtClean="0"/>
              <a:t>74.41%</a:t>
            </a:r>
            <a:r>
              <a:rPr lang="en-US" dirty="0" smtClean="0"/>
              <a:t>, an MAE of </a:t>
            </a:r>
            <a:r>
              <a:rPr lang="en-US" b="1" dirty="0" smtClean="0"/>
              <a:t>8.82</a:t>
            </a:r>
            <a:r>
              <a:rPr lang="en-US" dirty="0" smtClean="0"/>
              <a:t>, and an RMSE of </a:t>
            </a:r>
            <a:r>
              <a:rPr lang="en-US" b="1" dirty="0" smtClean="0"/>
              <a:t>11.75</a:t>
            </a:r>
            <a:r>
              <a:rPr lang="en-US" dirty="0" smtClean="0"/>
              <a:t>. These results indicate that the model can accurately predict energy consumption patterns and outperform previous approaches used in similar studies. This level of accuracy makes the model suitable for real-world monitoring and decision-making systems.</a:t>
            </a:r>
          </a:p>
          <a:p>
            <a:endParaRPr lang="en-US" dirty="0"/>
          </a:p>
          <a:p>
            <a:endParaRPr lang="en-US" dirty="0"/>
          </a:p>
          <a:p>
            <a:r>
              <a:rPr lang="en-US" dirty="0"/>
              <a:t>Graphs/Visualizations:</a:t>
            </a:r>
            <a:br>
              <a:rPr lang="en-US" dirty="0"/>
            </a:br>
            <a:r>
              <a:rPr lang="en-US" dirty="0"/>
              <a:t>(Include graphs or charts that display model performance, feature importance, or predictions)</a:t>
            </a:r>
          </a:p>
        </p:txBody>
      </p:sp>
      <p:sp>
        <p:nvSpPr>
          <p:cNvPr id="8" name="TextBox 7">
            <a:extLst>
              <a:ext uri="{FF2B5EF4-FFF2-40B4-BE49-F238E27FC236}">
                <a16:creationId xmlns:a16="http://schemas.microsoft.com/office/drawing/2014/main" xmlns="" id="{53DE1687-7F69-BD4F-0FC1-3AFCEDB18C67}"/>
              </a:ext>
            </a:extLst>
          </p:cNvPr>
          <p:cNvSpPr txBox="1"/>
          <p:nvPr/>
        </p:nvSpPr>
        <p:spPr>
          <a:xfrm>
            <a:off x="202071" y="972537"/>
            <a:ext cx="5904091" cy="400110"/>
          </a:xfrm>
          <a:prstGeom prst="rect">
            <a:avLst/>
          </a:prstGeom>
          <a:noFill/>
        </p:spPr>
        <p:txBody>
          <a:bodyPr wrap="square">
            <a:spAutoFit/>
          </a:bodyPr>
          <a:lstStyle/>
          <a:p>
            <a:r>
              <a:rPr lang="en-IN" sz="2000" b="1" dirty="0">
                <a:solidFill>
                  <a:srgbClr val="213163"/>
                </a:solidFill>
              </a:rPr>
              <a:t>Result</a:t>
            </a:r>
          </a:p>
        </p:txBody>
      </p:sp>
    </p:spTree>
    <p:extLst>
      <p:ext uri="{BB962C8B-B14F-4D97-AF65-F5344CB8AC3E}">
        <p14:creationId xmlns:p14="http://schemas.microsoft.com/office/powerpoint/2010/main" xmlns="" val="34081757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4" name="TextBox 3">
            <a:extLst>
              <a:ext uri="{FF2B5EF4-FFF2-40B4-BE49-F238E27FC236}">
                <a16:creationId xmlns:a16="http://schemas.microsoft.com/office/drawing/2014/main" xmlns="" id="{EC8B546F-F91E-160B-DC7F-688AFB5A50EA}"/>
              </a:ext>
            </a:extLst>
          </p:cNvPr>
          <p:cNvSpPr txBox="1"/>
          <p:nvPr/>
        </p:nvSpPr>
        <p:spPr>
          <a:xfrm>
            <a:off x="0" y="898018"/>
            <a:ext cx="5926671" cy="379656"/>
          </a:xfrm>
          <a:prstGeom prst="rect">
            <a:avLst/>
          </a:prstGeom>
          <a:noFill/>
        </p:spPr>
        <p:txBody>
          <a:bodyPr wrap="square" rtlCol="0">
            <a:spAutoFit/>
          </a:bodyPr>
          <a:lstStyle/>
          <a:p>
            <a:pPr marL="228600" indent="-228600">
              <a:spcAft>
                <a:spcPts val="800"/>
              </a:spcAft>
              <a:buFont typeface="Arial" panose="020B0604020202020204" pitchFamily="34" charset="0"/>
              <a:buChar char="•"/>
            </a:pPr>
            <a:r>
              <a:rPr lang="en-US" sz="1800" b="1" dirty="0" smtClean="0"/>
              <a:t>Graphs/Visualizations:</a:t>
            </a:r>
            <a:endParaRPr lang="en-US" sz="1800" b="1" dirty="0">
              <a:latin typeface="+mn-lt"/>
            </a:endParaRPr>
          </a:p>
        </p:txBody>
      </p:sp>
      <p:pic>
        <p:nvPicPr>
          <p:cNvPr id="7" name="Picture 6" descr="pic.jpeg"/>
          <p:cNvPicPr>
            <a:picLocks noChangeAspect="1"/>
          </p:cNvPicPr>
          <p:nvPr/>
        </p:nvPicPr>
        <p:blipFill>
          <a:blip r:embed="rId3"/>
          <a:stretch>
            <a:fillRect/>
          </a:stretch>
        </p:blipFill>
        <p:spPr>
          <a:xfrm>
            <a:off x="925830" y="1584960"/>
            <a:ext cx="9639300" cy="4572000"/>
          </a:xfrm>
          <a:prstGeom prst="rect">
            <a:avLst/>
          </a:prstGeom>
        </p:spPr>
      </p:pic>
    </p:spTree>
    <p:extLst>
      <p:ext uri="{BB962C8B-B14F-4D97-AF65-F5344CB8AC3E}">
        <p14:creationId xmlns:p14="http://schemas.microsoft.com/office/powerpoint/2010/main" xmlns="" val="13079258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3" name="TextBox 2">
            <a:extLst>
              <a:ext uri="{FF2B5EF4-FFF2-40B4-BE49-F238E27FC236}">
                <a16:creationId xmlns:a16="http://schemas.microsoft.com/office/drawing/2014/main" xmlns="" id="{02C0F50E-3048-BEA6-6962-A48C023C0388}"/>
              </a:ext>
            </a:extLst>
          </p:cNvPr>
          <p:cNvSpPr txBox="1"/>
          <p:nvPr/>
        </p:nvSpPr>
        <p:spPr>
          <a:xfrm>
            <a:off x="212231" y="749017"/>
            <a:ext cx="5904091" cy="400110"/>
          </a:xfrm>
          <a:prstGeom prst="rect">
            <a:avLst/>
          </a:prstGeom>
          <a:noFill/>
        </p:spPr>
        <p:txBody>
          <a:bodyPr wrap="square">
            <a:spAutoFit/>
          </a:bodyPr>
          <a:lstStyle/>
          <a:p>
            <a:r>
              <a:rPr lang="en-IN" sz="2000" b="1" dirty="0">
                <a:solidFill>
                  <a:srgbClr val="213163"/>
                </a:solidFill>
              </a:rPr>
              <a:t>Conclusion</a:t>
            </a:r>
            <a:endParaRPr lang="en-IN" sz="2000" dirty="0">
              <a:solidFill>
                <a:srgbClr val="213163"/>
              </a:solidFill>
            </a:endParaRPr>
          </a:p>
        </p:txBody>
      </p:sp>
      <p:sp>
        <p:nvSpPr>
          <p:cNvPr id="4" name="TextBox 3">
            <a:extLst>
              <a:ext uri="{FF2B5EF4-FFF2-40B4-BE49-F238E27FC236}">
                <a16:creationId xmlns:a16="http://schemas.microsoft.com/office/drawing/2014/main" xmlns="" id="{EC8B546F-F91E-160B-DC7F-688AFB5A50EA}"/>
              </a:ext>
            </a:extLst>
          </p:cNvPr>
          <p:cNvSpPr txBox="1"/>
          <p:nvPr/>
        </p:nvSpPr>
        <p:spPr>
          <a:xfrm>
            <a:off x="225554" y="1194911"/>
            <a:ext cx="8689846" cy="5180905"/>
          </a:xfrm>
          <a:prstGeom prst="rect">
            <a:avLst/>
          </a:prstGeom>
          <a:noFill/>
        </p:spPr>
        <p:txBody>
          <a:bodyPr wrap="square" rtlCol="0">
            <a:spAutoFit/>
          </a:bodyPr>
          <a:lstStyle/>
          <a:p>
            <a:r>
              <a:rPr lang="en-US" sz="1800" dirty="0" smtClean="0"/>
              <a:t>The </a:t>
            </a:r>
            <a:r>
              <a:rPr lang="en-US" sz="1800" dirty="0" err="1" smtClean="0"/>
              <a:t>EcoGuard</a:t>
            </a:r>
            <a:r>
              <a:rPr lang="en-US" sz="1800" dirty="0" smtClean="0"/>
              <a:t> AI system demonstrates how advanced technologies can be used to address multiple challenges in the energy sector. By integrating artificial intelligence, </a:t>
            </a:r>
            <a:r>
              <a:rPr lang="en-US" sz="1800" dirty="0" err="1" smtClean="0"/>
              <a:t>IoT</a:t>
            </a:r>
            <a:r>
              <a:rPr lang="en-US" sz="1800" dirty="0" smtClean="0"/>
              <a:t> sensors, and mobile applications, the system provides real-time monitoring and predictive analytics for LPG safety.</a:t>
            </a:r>
          </a:p>
          <a:p>
            <a:r>
              <a:rPr lang="en-US" sz="1800" dirty="0" smtClean="0"/>
              <a:t>At the same time, the training platform helps develop a skilled workforce capable of supporting the transition to sustainable energy solutions. The project shows that combining safety technology with workforce development can improve operational efficiency, reduce risks, and promote environmental sustainability. Overall, </a:t>
            </a:r>
            <a:r>
              <a:rPr lang="en-US" sz="1800" dirty="0" err="1" smtClean="0"/>
              <a:t>EcoGuard</a:t>
            </a:r>
            <a:r>
              <a:rPr lang="en-US" sz="1800" dirty="0" smtClean="0"/>
              <a:t> AI represents a comprehensive approach to building a safer and greener future</a:t>
            </a:r>
            <a:r>
              <a:rPr lang="en-US" sz="1800" dirty="0" smtClean="0"/>
              <a:t>.</a:t>
            </a:r>
          </a:p>
          <a:p>
            <a:endParaRPr lang="en-US" sz="1800" dirty="0">
              <a:latin typeface="+mn-lt"/>
            </a:endParaRPr>
          </a:p>
          <a:p>
            <a:pPr marL="228600" indent="-228600">
              <a:spcAft>
                <a:spcPts val="800"/>
              </a:spcAft>
              <a:buFont typeface="Arial" panose="020B0604020202020204" pitchFamily="34" charset="0"/>
              <a:buChar char="•"/>
            </a:pPr>
            <a:r>
              <a:rPr lang="en-US" sz="1800" b="1" dirty="0">
                <a:latin typeface="+mn-lt"/>
              </a:rPr>
              <a:t>Future Work:</a:t>
            </a:r>
            <a:r>
              <a:rPr lang="en-US" sz="1800" dirty="0">
                <a:latin typeface="+mn-lt"/>
              </a:rPr>
              <a:t/>
            </a:r>
            <a:br>
              <a:rPr lang="en-US" sz="1800" dirty="0">
                <a:latin typeface="+mn-lt"/>
              </a:rPr>
            </a:br>
            <a:r>
              <a:rPr lang="en-US" sz="1800" dirty="0" smtClean="0"/>
              <a:t> Future improvements include expanding the dataset with diverse buildings, regions, and weather conditions to improve model accuracy. Integrating </a:t>
            </a:r>
            <a:r>
              <a:rPr lang="en-US" sz="1800" dirty="0" err="1" smtClean="0"/>
              <a:t>TinyML</a:t>
            </a:r>
            <a:r>
              <a:rPr lang="en-US" sz="1800" dirty="0" smtClean="0"/>
              <a:t> can enable faster on-device predictions. Adding sensors for gases like natural gas and carbon monoxide, along with thermal camera–based computer vision, can enhance leak detection and support large-scale industrial deployment.</a:t>
            </a:r>
            <a:endParaRPr lang="en-US" sz="1800" dirty="0">
              <a:latin typeface="+mn-lt"/>
            </a:endParaRPr>
          </a:p>
          <a:p>
            <a:pPr marL="228600" indent="-228600">
              <a:spcAft>
                <a:spcPts val="800"/>
              </a:spcAft>
              <a:buFont typeface="Arial" panose="020B0604020202020204" pitchFamily="34" charset="0"/>
              <a:buChar char="•"/>
            </a:pPr>
            <a:endParaRPr lang="en-US" sz="1800" dirty="0">
              <a:latin typeface="+mn-lt"/>
            </a:endParaRPr>
          </a:p>
        </p:txBody>
      </p:sp>
      <p:sp>
        <p:nvSpPr>
          <p:cNvPr id="8" name="TextBox 7">
            <a:extLst>
              <a:ext uri="{FF2B5EF4-FFF2-40B4-BE49-F238E27FC236}">
                <a16:creationId xmlns:a16="http://schemas.microsoft.com/office/drawing/2014/main" xmlns="" id="{FF6EE1DD-6A31-2A28-F8BE-6E59037422CF}"/>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dirty="0" smtClean="0">
                <a:latin typeface="+mn-lt"/>
              </a:rPr>
              <a:t> </a:t>
            </a:r>
            <a:endParaRPr lang="en-IN" sz="1200" b="1" dirty="0">
              <a:latin typeface="+mn-lt"/>
            </a:endParaRPr>
          </a:p>
        </p:txBody>
      </p:sp>
      <p:cxnSp>
        <p:nvCxnSpPr>
          <p:cNvPr id="10" name="Straight Connector 9">
            <a:extLst>
              <a:ext uri="{FF2B5EF4-FFF2-40B4-BE49-F238E27FC236}">
                <a16:creationId xmlns:a16="http://schemas.microsoft.com/office/drawing/2014/main" xmlns="" id="{6247989A-A2B1-6748-7E8A-F0362FB212B6}"/>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2" name="Picture 1" descr="A light bulb with a black background&#10;&#10;Description automatically generated">
            <a:extLst>
              <a:ext uri="{FF2B5EF4-FFF2-40B4-BE49-F238E27FC236}">
                <a16:creationId xmlns:a16="http://schemas.microsoft.com/office/drawing/2014/main" xmlns="" id="{75F7452F-58BC-17CE-3016-C04F4A0BB586}"/>
              </a:ext>
            </a:extLst>
          </p:cNvPr>
          <p:cNvPicPr>
            <a:picLocks noChangeAspect="1"/>
          </p:cNvPicPr>
          <p:nvPr/>
        </p:nvPicPr>
        <p:blipFill rotWithShape="1">
          <a:blip r:embed="rId3"/>
          <a:srcRect l="7117" t="5427" r="7295" b="7474"/>
          <a:stretch/>
        </p:blipFill>
        <p:spPr>
          <a:xfrm>
            <a:off x="7640320" y="1061720"/>
            <a:ext cx="4551680" cy="4632115"/>
          </a:xfrm>
          <a:prstGeom prst="rect">
            <a:avLst/>
          </a:prstGeom>
        </p:spPr>
      </p:pic>
    </p:spTree>
    <p:extLst>
      <p:ext uri="{BB962C8B-B14F-4D97-AF65-F5344CB8AC3E}">
        <p14:creationId xmlns:p14="http://schemas.microsoft.com/office/powerpoint/2010/main" xmlns="" val="20463212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xmlns="" id="{5FFAAF42-470E-97FC-B197-6E5DF9EDB14D}"/>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xmlns="" id="{FF23E1BD-5875-ABF1-63F3-45C022CCC361}"/>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dirty="0">
                <a:latin typeface="+mn-lt"/>
              </a:rPr>
              <a:t>Source : </a:t>
            </a:r>
          </a:p>
        </p:txBody>
      </p:sp>
      <p:sp>
        <p:nvSpPr>
          <p:cNvPr id="7" name="TextBox 6">
            <a:extLst>
              <a:ext uri="{FF2B5EF4-FFF2-40B4-BE49-F238E27FC236}">
                <a16:creationId xmlns:a16="http://schemas.microsoft.com/office/drawing/2014/main" xmlns="" id="{F04FD7C0-9A64-0039-4825-99241438FE8D}"/>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dirty="0">
                <a:solidFill>
                  <a:srgbClr val="0000FF"/>
                </a:solidFill>
                <a:latin typeface="+mn-lt"/>
                <a:hlinkClick r:id="rId3">
                  <a:extLst>
                    <a:ext uri="{A12FA001-AC4F-418D-AE19-62706E023703}">
                      <ahyp:hlinkClr xmlns:ahyp="http://schemas.microsoft.com/office/drawing/2018/hyperlinkcolor" xmlns="" val="tx"/>
                    </a:ext>
                  </a:extLst>
                </a:hlinkClick>
              </a:rPr>
              <a:t>www.freepik.com/</a:t>
            </a:r>
            <a:endParaRPr lang="en-IN" sz="1200" dirty="0">
              <a:solidFill>
                <a:srgbClr val="0000FF"/>
              </a:solidFill>
              <a:latin typeface="+mn-lt"/>
            </a:endParaRPr>
          </a:p>
        </p:txBody>
      </p:sp>
      <p:cxnSp>
        <p:nvCxnSpPr>
          <p:cNvPr id="12" name="Straight Connector 11">
            <a:extLst>
              <a:ext uri="{FF2B5EF4-FFF2-40B4-BE49-F238E27FC236}">
                <a16:creationId xmlns:a16="http://schemas.microsoft.com/office/drawing/2014/main" xmlns="" id="{C0E33A13-0620-DBF5-D01F-30111ED8D4DB}"/>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2">
            <a:extLst>
              <a:ext uri="{FF2B5EF4-FFF2-40B4-BE49-F238E27FC236}">
                <a16:creationId xmlns:a16="http://schemas.microsoft.com/office/drawing/2014/main" xmlns="" id="{5DD3A5A0-5DE1-57D5-1967-A49F57C9AB4B}"/>
              </a:ext>
            </a:extLst>
          </p:cNvPr>
          <p:cNvSpPr txBox="1">
            <a:spLocks/>
          </p:cNvSpPr>
          <p:nvPr/>
        </p:nvSpPr>
        <p:spPr>
          <a:xfrm>
            <a:off x="278130" y="1386840"/>
            <a:ext cx="11365230" cy="5029200"/>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b="1" dirty="0"/>
              <a:t>Sustainability Impact:</a:t>
            </a:r>
          </a:p>
          <a:p>
            <a:r>
              <a:rPr lang="en-US" dirty="0" err="1" smtClean="0"/>
              <a:t>EcoGuard</a:t>
            </a:r>
            <a:r>
              <a:rPr lang="en-US" dirty="0" smtClean="0"/>
              <a:t> AI improves environmental sustainability by optimizing LPG usage and reducing fuel waste through AI-based monitoring. Real-time leak detection prevents harmful emissions and accidents. Predictive maintenance reduces equipment failures, while the green skills training platform promotes sustainable energy practices and prepares a workforce capable of supporting clean and efficient energy </a:t>
            </a:r>
            <a:r>
              <a:rPr lang="en-US" dirty="0" smtClean="0"/>
              <a:t>systems.</a:t>
            </a:r>
            <a:endParaRPr lang="en-US" dirty="0" smtClean="0"/>
          </a:p>
          <a:p>
            <a:endParaRPr lang="en-US" dirty="0"/>
          </a:p>
          <a:p>
            <a:endParaRPr lang="en-US" dirty="0"/>
          </a:p>
          <a:p>
            <a:r>
              <a:rPr lang="en-US" b="1" dirty="0"/>
              <a:t>Practical Implementation:</a:t>
            </a:r>
            <a:r>
              <a:rPr lang="en-US" dirty="0"/>
              <a:t/>
            </a:r>
            <a:br>
              <a:rPr lang="en-US" dirty="0"/>
            </a:br>
            <a:r>
              <a:rPr lang="en-US" dirty="0" smtClean="0"/>
              <a:t> </a:t>
            </a:r>
            <a:r>
              <a:rPr lang="en-US" dirty="0" err="1" smtClean="0"/>
              <a:t>EcoGuard</a:t>
            </a:r>
            <a:r>
              <a:rPr lang="en-US" dirty="0" smtClean="0"/>
              <a:t> AI can be implemented in homes, industries, and commercial buildings using </a:t>
            </a:r>
            <a:r>
              <a:rPr lang="en-US" dirty="0" err="1" smtClean="0"/>
              <a:t>IoT</a:t>
            </a:r>
            <a:r>
              <a:rPr lang="en-US" dirty="0" smtClean="0"/>
              <a:t> sensors such as gas detectors, load cells, and temperature sensors. These devices send real-time data to a cloud platform where AI models analyze consumption patterns, detect leaks, and send alerts through a mobile application for safety monitoring.</a:t>
            </a:r>
            <a:endParaRPr lang="en-US" dirty="0"/>
          </a:p>
        </p:txBody>
      </p:sp>
      <p:sp>
        <p:nvSpPr>
          <p:cNvPr id="8" name="TextBox 7">
            <a:extLst>
              <a:ext uri="{FF2B5EF4-FFF2-40B4-BE49-F238E27FC236}">
                <a16:creationId xmlns:a16="http://schemas.microsoft.com/office/drawing/2014/main" xmlns="" id="{03015779-0D87-0B8F-666B-1C962E184FD1}"/>
              </a:ext>
            </a:extLst>
          </p:cNvPr>
          <p:cNvSpPr txBox="1"/>
          <p:nvPr/>
        </p:nvSpPr>
        <p:spPr>
          <a:xfrm>
            <a:off x="202071" y="972537"/>
            <a:ext cx="5904091" cy="400110"/>
          </a:xfrm>
          <a:prstGeom prst="rect">
            <a:avLst/>
          </a:prstGeom>
          <a:noFill/>
        </p:spPr>
        <p:txBody>
          <a:bodyPr wrap="square">
            <a:spAutoFit/>
          </a:bodyPr>
          <a:lstStyle/>
          <a:p>
            <a:r>
              <a:rPr lang="en-IN" sz="2000" b="1" dirty="0">
                <a:solidFill>
                  <a:srgbClr val="213163"/>
                </a:solidFill>
              </a:rPr>
              <a:t>Solution Impact</a:t>
            </a:r>
            <a:endParaRPr lang="en-IN" sz="2000" dirty="0">
              <a:solidFill>
                <a:srgbClr val="213163"/>
              </a:solidFill>
            </a:endParaRPr>
          </a:p>
        </p:txBody>
      </p:sp>
    </p:spTree>
    <p:extLst>
      <p:ext uri="{BB962C8B-B14F-4D97-AF65-F5344CB8AC3E}">
        <p14:creationId xmlns:p14="http://schemas.microsoft.com/office/powerpoint/2010/main" xmlns="" val="28485112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3" name="TextBox 2">
            <a:extLst>
              <a:ext uri="{FF2B5EF4-FFF2-40B4-BE49-F238E27FC236}">
                <a16:creationId xmlns:a16="http://schemas.microsoft.com/office/drawing/2014/main" xmlns="" id="{02C0F50E-3048-BEA6-6962-A48C023C0388}"/>
              </a:ext>
            </a:extLst>
          </p:cNvPr>
          <p:cNvSpPr txBox="1"/>
          <p:nvPr/>
        </p:nvSpPr>
        <p:spPr>
          <a:xfrm>
            <a:off x="212231" y="962377"/>
            <a:ext cx="5904091" cy="400110"/>
          </a:xfrm>
          <a:prstGeom prst="rect">
            <a:avLst/>
          </a:prstGeom>
          <a:noFill/>
        </p:spPr>
        <p:txBody>
          <a:bodyPr wrap="square">
            <a:spAutoFit/>
          </a:bodyPr>
          <a:lstStyle/>
          <a:p>
            <a:r>
              <a:rPr lang="en-IN" sz="2000" b="1" dirty="0">
                <a:solidFill>
                  <a:srgbClr val="213163"/>
                </a:solidFill>
              </a:rPr>
              <a:t>References</a:t>
            </a:r>
            <a:endParaRPr lang="en-IN" sz="2000" dirty="0">
              <a:solidFill>
                <a:srgbClr val="213163"/>
              </a:solidFill>
            </a:endParaRPr>
          </a:p>
        </p:txBody>
      </p:sp>
      <p:sp>
        <p:nvSpPr>
          <p:cNvPr id="4" name="TextBox 3">
            <a:extLst>
              <a:ext uri="{FF2B5EF4-FFF2-40B4-BE49-F238E27FC236}">
                <a16:creationId xmlns:a16="http://schemas.microsoft.com/office/drawing/2014/main" xmlns="" id="{EC8B546F-F91E-160B-DC7F-688AFB5A50EA}"/>
              </a:ext>
            </a:extLst>
          </p:cNvPr>
          <p:cNvSpPr txBox="1"/>
          <p:nvPr/>
        </p:nvSpPr>
        <p:spPr>
          <a:xfrm>
            <a:off x="210314" y="1461898"/>
            <a:ext cx="5926671" cy="2646878"/>
          </a:xfrm>
          <a:prstGeom prst="rect">
            <a:avLst/>
          </a:prstGeom>
          <a:noFill/>
        </p:spPr>
        <p:txBody>
          <a:bodyPr wrap="square" rtlCol="0">
            <a:spAutoFit/>
          </a:bodyPr>
          <a:lstStyle/>
          <a:p>
            <a:pPr marL="228600" indent="-228600">
              <a:spcAft>
                <a:spcPts val="800"/>
              </a:spcAft>
              <a:buFont typeface="Arial" panose="020B0604020202020204" pitchFamily="34" charset="0"/>
              <a:buChar char="•"/>
            </a:pPr>
            <a:r>
              <a:rPr lang="en-US" sz="1800" dirty="0" smtClean="0">
                <a:hlinkClick r:id="rId3"/>
              </a:rPr>
              <a:t>https://</a:t>
            </a:r>
            <a:r>
              <a:rPr lang="en-US" sz="1800" dirty="0" smtClean="0">
                <a:hlinkClick r:id="rId3"/>
              </a:rPr>
              <a:t>www.kaggle.com</a:t>
            </a:r>
            <a:endParaRPr lang="en-US" sz="1800" dirty="0" smtClean="0"/>
          </a:p>
          <a:p>
            <a:pPr marL="228600" indent="-228600">
              <a:spcAft>
                <a:spcPts val="800"/>
              </a:spcAft>
              <a:buFont typeface="Arial" panose="020B0604020202020204" pitchFamily="34" charset="0"/>
              <a:buChar char="•"/>
            </a:pPr>
            <a:r>
              <a:rPr lang="en-US" sz="1800" dirty="0" smtClean="0">
                <a:hlinkClick r:id="rId4"/>
              </a:rPr>
              <a:t>https://</a:t>
            </a:r>
            <a:r>
              <a:rPr lang="en-US" sz="1800" dirty="0" smtClean="0">
                <a:hlinkClick r:id="rId4"/>
              </a:rPr>
              <a:t>www.nature.com/articles/s41597-020-00582-3</a:t>
            </a:r>
            <a:endParaRPr lang="en-US" sz="1800" dirty="0" smtClean="0"/>
          </a:p>
          <a:p>
            <a:pPr marL="228600" indent="-228600">
              <a:spcAft>
                <a:spcPts val="800"/>
              </a:spcAft>
              <a:buFont typeface="Arial" panose="020B0604020202020204" pitchFamily="34" charset="0"/>
              <a:buChar char="•"/>
            </a:pPr>
            <a:r>
              <a:rPr lang="en-US" sz="1800" dirty="0" smtClean="0">
                <a:hlinkClick r:id="rId5"/>
              </a:rPr>
              <a:t>https://zenodo.org</a:t>
            </a:r>
            <a:endParaRPr lang="en-US" sz="1800" dirty="0" smtClean="0"/>
          </a:p>
          <a:p>
            <a:pPr marL="228600" indent="-228600">
              <a:spcAft>
                <a:spcPts val="800"/>
              </a:spcAft>
              <a:buFont typeface="Arial" panose="020B0604020202020204" pitchFamily="34" charset="0"/>
              <a:buChar char="•"/>
            </a:pPr>
            <a:r>
              <a:rPr lang="en-US" sz="1800" dirty="0" smtClean="0">
                <a:hlinkClick r:id="rId6"/>
              </a:rPr>
              <a:t>https://</a:t>
            </a:r>
            <a:r>
              <a:rPr lang="en-US" sz="1800" dirty="0" smtClean="0">
                <a:hlinkClick r:id="rId6"/>
              </a:rPr>
              <a:t>data.mendeley.com</a:t>
            </a:r>
            <a:endParaRPr lang="en-US" sz="1800" dirty="0" smtClean="0"/>
          </a:p>
          <a:p>
            <a:pPr marL="228600" indent="-228600">
              <a:spcAft>
                <a:spcPts val="800"/>
              </a:spcAft>
              <a:buFont typeface="Arial" panose="020B0604020202020204" pitchFamily="34" charset="0"/>
              <a:buChar char="•"/>
            </a:pPr>
            <a:r>
              <a:rPr lang="en-US" sz="1800" dirty="0" smtClean="0">
                <a:hlinkClick r:id="rId7"/>
              </a:rPr>
              <a:t>https://www.mdpi.com/1996-1073/13/7/1555</a:t>
            </a:r>
            <a:endParaRPr lang="en-US" sz="1800" dirty="0" smtClean="0"/>
          </a:p>
          <a:p>
            <a:pPr marL="228600" indent="-228600">
              <a:spcAft>
                <a:spcPts val="800"/>
              </a:spcAft>
              <a:buFont typeface="Arial" panose="020B0604020202020204" pitchFamily="34" charset="0"/>
              <a:buChar char="•"/>
            </a:pPr>
            <a:endParaRPr lang="en-US" sz="1800" dirty="0" smtClean="0"/>
          </a:p>
          <a:p>
            <a:pPr marL="228600" indent="-228600">
              <a:spcAft>
                <a:spcPts val="800"/>
              </a:spcAft>
              <a:buFont typeface="Arial" panose="020B0604020202020204" pitchFamily="34" charset="0"/>
              <a:buChar char="•"/>
            </a:pPr>
            <a:endParaRPr lang="en-US" sz="1800" dirty="0">
              <a:latin typeface="+mn-lt"/>
            </a:endParaRPr>
          </a:p>
        </p:txBody>
      </p:sp>
    </p:spTree>
    <p:extLst>
      <p:ext uri="{BB962C8B-B14F-4D97-AF65-F5344CB8AC3E}">
        <p14:creationId xmlns:p14="http://schemas.microsoft.com/office/powerpoint/2010/main" xmlns="" val="13079258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61;g5fab984687_2_0">
            <a:extLst>
              <a:ext uri="{FF2B5EF4-FFF2-40B4-BE49-F238E27FC236}">
                <a16:creationId xmlns:a16="http://schemas.microsoft.com/office/drawing/2014/main" xmlns="" id="{0C30A77F-BE9B-73CB-CC7F-A1F8B5B87AB9}"/>
              </a:ext>
            </a:extLst>
          </p:cNvPr>
          <p:cNvSpPr txBox="1">
            <a:spLocks/>
          </p:cNvSpPr>
          <p:nvPr/>
        </p:nvSpPr>
        <p:spPr>
          <a:xfrm>
            <a:off x="4315206" y="3214562"/>
            <a:ext cx="3561588" cy="98704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800"/>
            </a:pPr>
            <a:r>
              <a:rPr lang="en-US" sz="5000" b="1" dirty="0">
                <a:solidFill>
                  <a:srgbClr val="213163"/>
                </a:solidFill>
              </a:rPr>
              <a:t>Thank You</a:t>
            </a:r>
            <a:endParaRPr lang="en-US" sz="5000" dirty="0"/>
          </a:p>
        </p:txBody>
      </p:sp>
    </p:spTree>
    <p:extLst>
      <p:ext uri="{BB962C8B-B14F-4D97-AF65-F5344CB8AC3E}">
        <p14:creationId xmlns:p14="http://schemas.microsoft.com/office/powerpoint/2010/main" xmlns="" val="3544365122"/>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9162bd5b-4ed9-4da3-b376-05204580ba3f"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5" ma:contentTypeDescription="Create a new document." ma:contentTypeScope="" ma:versionID="7670618c03e54fbae4a17ecb2d0ed10f">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3d63de1c5a217044e31e0c8b260d3d71"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6559A34-456E-49A1-8157-9E3D18BFAD36}">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3706AB80-2608-47D7-8AC8-FA6BC8A9B27C}">
  <ds:schemaRefs>
    <ds:schemaRef ds:uri="http://schemas.microsoft.com/sharepoint/v3/contenttype/forms"/>
  </ds:schemaRefs>
</ds:datastoreItem>
</file>

<file path=customXml/itemProps3.xml><?xml version="1.0" encoding="utf-8"?>
<ds:datastoreItem xmlns:ds="http://schemas.openxmlformats.org/officeDocument/2006/customXml" ds:itemID="{7D9E5D5E-A365-4A49-8140-C8CC82A61608}">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3778</TotalTime>
  <Words>888</Words>
  <Application>Microsoft Office PowerPoint</Application>
  <PresentationFormat>Custom</PresentationFormat>
  <Paragraphs>70</Paragraphs>
  <Slides>11</Slides>
  <Notes>11</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Simple Light</vt:lpstr>
      <vt:lpstr>Slide 1</vt:lpstr>
      <vt:lpstr>Slide 2</vt:lpstr>
      <vt:lpstr>Slide 3</vt:lpstr>
      <vt:lpstr>Slide 4</vt:lpstr>
      <vt:lpstr>Slide 5</vt:lpstr>
      <vt:lpstr>Slide 6</vt:lpstr>
      <vt:lpstr>Slide 7</vt:lpstr>
      <vt:lpstr>Slide 8</vt:lpstr>
      <vt:lpstr>Slide 9</vt:lpstr>
      <vt:lpstr>Slide 10</vt:lpstr>
      <vt:lpstr>Slide 11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Moinudeen Syed</dc:creator>
  <cp:lastModifiedBy>super computer</cp:lastModifiedBy>
  <cp:revision>74</cp:revision>
  <dcterms:modified xsi:type="dcterms:W3CDTF">2026-03-14T06:03:26Z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